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notesSlides/notesSlide1.xml" ContentType="application/vnd.openxmlformats-officedocument.presentationml.notesSlide+xml"/>
  <Override PartName="/ppt/media/image4.jpe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73042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73042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73042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73042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73042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73042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73042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73042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73042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73042"/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wholeTbl>
    <a:band2H>
      <a:tcTxStyle b="def" i="def"/>
      <a:tcStyle>
        <a:tcBdr/>
        <a:fill>
          <a:solidFill>
            <a:schemeClr val="accent1">
              <a:lumOff val="44000"/>
            </a:schemeClr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73042"/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CE1D4"/>
          </a:solidFill>
        </a:fill>
      </a:tcStyle>
    </a:wholeTbl>
    <a:band2H>
      <a:tcTxStyle b="def" i="def"/>
      <a:tcStyle>
        <a:tcBdr/>
        <a:fill>
          <a:solidFill>
            <a:srgbClr val="E7F0EB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73042"/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F1F9FB"/>
          </a:solidFill>
        </a:fill>
      </a:tcStyle>
    </a:wholeTbl>
    <a:band2H>
      <a:tcTxStyle b="def" i="def"/>
      <a:tcStyle>
        <a:tcBdr/>
        <a:fill>
          <a:solidFill>
            <a:srgbClr val="F8FCFD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7304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7E8"/>
          </a:solidFill>
        </a:fill>
      </a:tcStyle>
    </a:wholeTbl>
    <a:band2H>
      <a:tcTxStyle b="def" i="def"/>
      <a:tcStyle>
        <a:tcBdr/>
        <a:fill>
          <a:solidFill>
            <a:schemeClr val="accent1">
              <a:lumOff val="44000"/>
            </a:schemeClr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7304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73042"/>
              </a:solidFill>
              <a:prstDash val="solid"/>
              <a:round/>
            </a:ln>
          </a:top>
          <a:bottom>
            <a:ln w="25400" cap="flat">
              <a:solidFill>
                <a:srgbClr val="07304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73042"/>
              </a:solidFill>
              <a:prstDash val="solid"/>
              <a:round/>
            </a:ln>
          </a:top>
          <a:bottom>
            <a:ln w="25400" cap="flat">
              <a:solidFill>
                <a:srgbClr val="073042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44000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73042"/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ACCCD"/>
          </a:solidFill>
        </a:fill>
      </a:tcStyle>
    </a:wholeTbl>
    <a:band2H>
      <a:tcTxStyle b="def" i="def"/>
      <a:tcStyle>
        <a:tcBdr/>
        <a:fill>
          <a:solidFill>
            <a:srgbClr val="E6E7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7304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73042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73042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>
              <a:lumOff val="44000"/>
              <a:alpha val="20000"/>
            </a:schemeClr>
          </a:solidFill>
        </a:fill>
      </a:tcStyle>
    </a:wholeTbl>
    <a:band2H>
      <a:tcTxStyle b="def" i="def"/>
      <a:tcStyle>
        <a:tcBdr/>
        <a:fill>
          <a:solidFill>
            <a:schemeClr val="accent1">
              <a:lumOff val="44000"/>
            </a:schemeClr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>
              <a:lumOff val="44000"/>
              <a:alpha val="20000"/>
            </a:scheme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508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chemeClr val="accent1">
          <a:lumOff val="44000"/>
        </a:schemeClr>
      </a:tcTxStyle>
      <a:tcStyle>
        <a:tcBdr>
          <a:lef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top>
          <a:bottom>
            <a:ln w="254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/>
      </a:defRPr>
    </a:lvl1pPr>
    <a:lvl2pPr indent="228600" latinLnBrk="0">
      <a:defRPr sz="1200">
        <a:latin typeface="+mj-lt"/>
        <a:ea typeface="+mj-ea"/>
        <a:cs typeface="+mj-cs"/>
        <a:sym typeface="Arial"/>
      </a:defRPr>
    </a:lvl2pPr>
    <a:lvl3pPr indent="457200" latinLnBrk="0">
      <a:defRPr sz="1200">
        <a:latin typeface="+mj-lt"/>
        <a:ea typeface="+mj-ea"/>
        <a:cs typeface="+mj-cs"/>
        <a:sym typeface="Arial"/>
      </a:defRPr>
    </a:lvl3pPr>
    <a:lvl4pPr indent="685800" latinLnBrk="0">
      <a:defRPr sz="1200">
        <a:latin typeface="+mj-lt"/>
        <a:ea typeface="+mj-ea"/>
        <a:cs typeface="+mj-cs"/>
        <a:sym typeface="Arial"/>
      </a:defRPr>
    </a:lvl4pPr>
    <a:lvl5pPr indent="914400" latinLnBrk="0">
      <a:defRPr sz="1200">
        <a:latin typeface="+mj-lt"/>
        <a:ea typeface="+mj-ea"/>
        <a:cs typeface="+mj-cs"/>
        <a:sym typeface="Arial"/>
      </a:defRPr>
    </a:lvl5pPr>
    <a:lvl6pPr indent="1143000" latinLnBrk="0">
      <a:defRPr sz="1200">
        <a:latin typeface="+mj-lt"/>
        <a:ea typeface="+mj-ea"/>
        <a:cs typeface="+mj-cs"/>
        <a:sym typeface="Arial"/>
      </a:defRPr>
    </a:lvl6pPr>
    <a:lvl7pPr indent="1371600" latinLnBrk="0">
      <a:defRPr sz="1200">
        <a:latin typeface="+mj-lt"/>
        <a:ea typeface="+mj-ea"/>
        <a:cs typeface="+mj-cs"/>
        <a:sym typeface="Arial"/>
      </a:defRPr>
    </a:lvl7pPr>
    <a:lvl8pPr indent="1600200" latinLnBrk="0">
      <a:defRPr sz="1200">
        <a:latin typeface="+mj-lt"/>
        <a:ea typeface="+mj-ea"/>
        <a:cs typeface="+mj-cs"/>
        <a:sym typeface="Arial"/>
      </a:defRPr>
    </a:lvl8pPr>
    <a:lvl9pPr indent="18288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4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8" name="Shape 4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57200" indent="-298450">
              <a:buSzPts val="1100"/>
              <a:buChar char="●"/>
              <a:defRPr sz="1100"/>
            </a:lvl1pPr>
          </a:lstStyle>
          <a:p>
            <a:pPr/>
            <a:r>
              <a:t>    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Shape 4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4" name="Shape 4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57200" indent="-298450">
              <a:buSzPts val="1100"/>
              <a:buChar char="●"/>
              <a:defRPr sz="1100"/>
            </a:lvl1pPr>
          </a:lstStyle>
          <a:p>
            <a:pPr/>
            <a:r>
              <a:t>    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Shape 4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70" name="Shape 4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57200" indent="-298450">
              <a:buSzPts val="1100"/>
              <a:buChar char="●"/>
              <a:defRPr sz="1100"/>
            </a:lvl1pPr>
          </a:lstStyle>
          <a:p>
            <a:pPr/>
            <a:r>
              <a:t>     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5" name="Rectangle 7"/>
          <p:cNvSpPr/>
          <p:nvPr/>
        </p:nvSpPr>
        <p:spPr>
          <a:xfrm>
            <a:off x="12" y="4750737"/>
            <a:ext cx="9141619" cy="48007"/>
          </a:xfrm>
          <a:prstGeom prst="rect">
            <a:avLst/>
          </a:pr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16" name="Title Text"/>
          <p:cNvSpPr txBox="1"/>
          <p:nvPr>
            <p:ph type="title"/>
          </p:nvPr>
        </p:nvSpPr>
        <p:spPr>
          <a:xfrm>
            <a:off x="822960" y="569213"/>
            <a:ext cx="7543801" cy="2674622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7" name="Body Level One…"/>
          <p:cNvSpPr txBox="1"/>
          <p:nvPr>
            <p:ph type="body" sz="quarter" idx="1"/>
          </p:nvPr>
        </p:nvSpPr>
        <p:spPr>
          <a:xfrm>
            <a:off x="825038" y="3341716"/>
            <a:ext cx="7543801" cy="85725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>
              <a:buClrTx/>
              <a:buSzTx/>
              <a:buFontTx/>
              <a:buNone/>
              <a:defRPr cap="all" spc="150" sz="1800"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indent="342900">
              <a:buClrTx/>
              <a:buSzTx/>
              <a:buFontTx/>
              <a:buNone/>
              <a:defRPr cap="all" spc="150" sz="1800"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indent="685800">
              <a:buClrTx/>
              <a:buSzTx/>
              <a:buFontTx/>
              <a:buNone/>
              <a:defRPr cap="all" spc="150" sz="1800"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indent="1028700">
              <a:buClrTx/>
              <a:buSzTx/>
              <a:buFontTx/>
              <a:buNone/>
              <a:defRPr cap="all" spc="150" sz="1800"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indent="1371600">
              <a:buClrTx/>
              <a:buSzTx/>
              <a:buFontTx/>
              <a:buNone/>
              <a:defRPr cap="all" spc="150" sz="1800">
                <a:latin typeface="Calibri Light"/>
                <a:ea typeface="Calibri Light"/>
                <a:cs typeface="Calibri Light"/>
                <a:sym typeface="Calibri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" name="Straight Connector 8"/>
          <p:cNvSpPr/>
          <p:nvPr/>
        </p:nvSpPr>
        <p:spPr>
          <a:xfrm>
            <a:off x="905743" y="3257550"/>
            <a:ext cx="7406642" cy="0"/>
          </a:xfrm>
          <a:prstGeom prst="line">
            <a:avLst/>
          </a:prstGeom>
          <a:ln w="635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7" name="Body Level One…"/>
          <p:cNvSpPr txBox="1"/>
          <p:nvPr>
            <p:ph type="body" idx="1"/>
          </p:nvPr>
        </p:nvSpPr>
        <p:spPr>
          <a:xfrm>
            <a:off x="822960" y="1384300"/>
            <a:ext cx="7543801" cy="3017522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6" name="Rectangle 7"/>
          <p:cNvSpPr/>
          <p:nvPr/>
        </p:nvSpPr>
        <p:spPr>
          <a:xfrm>
            <a:off x="12" y="4750737"/>
            <a:ext cx="9141619" cy="48007"/>
          </a:xfrm>
          <a:prstGeom prst="rect">
            <a:avLst/>
          </a:pr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7" name="Title Text"/>
          <p:cNvSpPr txBox="1"/>
          <p:nvPr>
            <p:ph type="title"/>
          </p:nvPr>
        </p:nvSpPr>
        <p:spPr>
          <a:xfrm>
            <a:off x="822960" y="569213"/>
            <a:ext cx="7543801" cy="2674622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quarter" idx="1"/>
          </p:nvPr>
        </p:nvSpPr>
        <p:spPr>
          <a:xfrm>
            <a:off x="822960" y="3339846"/>
            <a:ext cx="7543801" cy="85725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>
              <a:buClrTx/>
              <a:buSzTx/>
              <a:buFontTx/>
              <a:buNone/>
              <a:defRPr cap="all" spc="150" sz="1800"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indent="342900">
              <a:buClrTx/>
              <a:buSzTx/>
              <a:buFontTx/>
              <a:buNone/>
              <a:defRPr cap="all" spc="150" sz="1800"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indent="685800">
              <a:buClrTx/>
              <a:buSzTx/>
              <a:buFontTx/>
              <a:buNone/>
              <a:defRPr cap="all" spc="150" sz="1800"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indent="1028700">
              <a:buClrTx/>
              <a:buSzTx/>
              <a:buFontTx/>
              <a:buNone/>
              <a:defRPr cap="all" spc="150" sz="1800"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indent="1371600">
              <a:buClrTx/>
              <a:buSzTx/>
              <a:buFontTx/>
              <a:buNone/>
              <a:defRPr cap="all" spc="150" sz="1800">
                <a:latin typeface="Calibri Light"/>
                <a:ea typeface="Calibri Light"/>
                <a:cs typeface="Calibri Light"/>
                <a:sym typeface="Calibri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traight Connector 8"/>
          <p:cNvSpPr/>
          <p:nvPr/>
        </p:nvSpPr>
        <p:spPr>
          <a:xfrm>
            <a:off x="905743" y="3257550"/>
            <a:ext cx="7406642" cy="0"/>
          </a:xfrm>
          <a:prstGeom prst="line">
            <a:avLst/>
          </a:prstGeom>
          <a:ln w="635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half" idx="1"/>
          </p:nvPr>
        </p:nvSpPr>
        <p:spPr>
          <a:xfrm>
            <a:off x="822958" y="1384300"/>
            <a:ext cx="3703322" cy="3017522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sz="quarter" idx="1"/>
          </p:nvPr>
        </p:nvSpPr>
        <p:spPr>
          <a:xfrm>
            <a:off x="822960" y="1384539"/>
            <a:ext cx="3703321" cy="552213"/>
          </a:xfrm>
          <a:prstGeom prst="rect">
            <a:avLst/>
          </a:prstGeom>
        </p:spPr>
        <p:txBody>
          <a:bodyPr lIns="45719" tIns="45719" rIns="45719" bIns="45719" anchor="ctr"/>
          <a:lstStyle>
            <a:lvl1pPr marL="0" indent="0">
              <a:buClrTx/>
              <a:buSzTx/>
              <a:buFontTx/>
              <a:buNone/>
              <a:defRPr cap="all"/>
            </a:lvl1pPr>
            <a:lvl2pPr marL="0" indent="342900">
              <a:buClrTx/>
              <a:buSzTx/>
              <a:buFontTx/>
              <a:buNone/>
              <a:defRPr cap="all"/>
            </a:lvl2pPr>
            <a:lvl3pPr marL="0" indent="685800">
              <a:buClrTx/>
              <a:buSzTx/>
              <a:buFontTx/>
              <a:buNone/>
              <a:defRPr cap="all"/>
            </a:lvl3pPr>
            <a:lvl4pPr marL="0" indent="1028700">
              <a:buClrTx/>
              <a:buSzTx/>
              <a:buFontTx/>
              <a:buNone/>
              <a:defRPr cap="all"/>
            </a:lvl4pPr>
            <a:lvl5pPr marL="0" indent="1371600">
              <a:buClrTx/>
              <a:buSzTx/>
              <a:buFontTx/>
              <a:buNone/>
              <a:defRPr cap="all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Text Placeholder 4"/>
          <p:cNvSpPr/>
          <p:nvPr>
            <p:ph type="body" sz="quarter" idx="21"/>
          </p:nvPr>
        </p:nvSpPr>
        <p:spPr>
          <a:xfrm>
            <a:off x="4663440" y="1384539"/>
            <a:ext cx="3703321" cy="552213"/>
          </a:xfrm>
          <a:prstGeom prst="rect">
            <a:avLst/>
          </a:prstGeom>
        </p:spPr>
        <p:txBody>
          <a:bodyPr lIns="45719" tIns="45719" rIns="45719" bIns="45719" anchor="ctr"/>
          <a:lstStyle/>
          <a:p>
            <a:pPr marL="0" indent="0">
              <a:buClrTx/>
              <a:buSzTx/>
              <a:buFontTx/>
              <a:buNone/>
              <a:defRPr cap="all"/>
            </a:pP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75" name="Rectangle 5"/>
          <p:cNvSpPr/>
          <p:nvPr/>
        </p:nvSpPr>
        <p:spPr>
          <a:xfrm>
            <a:off x="12" y="4750737"/>
            <a:ext cx="9141619" cy="48007"/>
          </a:xfrm>
          <a:prstGeom prst="rect">
            <a:avLst/>
          </a:pr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7"/>
          <p:cNvSpPr/>
          <p:nvPr/>
        </p:nvSpPr>
        <p:spPr>
          <a:xfrm>
            <a:off x="12" y="0"/>
            <a:ext cx="3038095" cy="51435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84" name="Rectangle 8"/>
          <p:cNvSpPr/>
          <p:nvPr/>
        </p:nvSpPr>
        <p:spPr>
          <a:xfrm>
            <a:off x="3030053" y="0"/>
            <a:ext cx="48007" cy="5143500"/>
          </a:xfrm>
          <a:prstGeom prst="rect">
            <a:avLst/>
          </a:pr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85" name="Title Text"/>
          <p:cNvSpPr txBox="1"/>
          <p:nvPr>
            <p:ph type="title"/>
          </p:nvPr>
        </p:nvSpPr>
        <p:spPr>
          <a:xfrm>
            <a:off x="342900" y="445769"/>
            <a:ext cx="2400300" cy="1714501"/>
          </a:xfrm>
          <a:prstGeom prst="rect">
            <a:avLst/>
          </a:prstGeom>
        </p:spPr>
        <p:txBody>
          <a:bodyPr/>
          <a:lstStyle>
            <a:lvl1pPr>
              <a:defRPr sz="2700"/>
            </a:lvl1pPr>
          </a:lstStyle>
          <a:p>
            <a:pPr/>
            <a:r>
              <a:t>Title Text</a:t>
            </a:r>
          </a:p>
        </p:txBody>
      </p:sp>
      <p:sp>
        <p:nvSpPr>
          <p:cNvPr id="86" name="Body Level One…"/>
          <p:cNvSpPr txBox="1"/>
          <p:nvPr>
            <p:ph type="body" idx="1"/>
          </p:nvPr>
        </p:nvSpPr>
        <p:spPr>
          <a:xfrm>
            <a:off x="3600450" y="548640"/>
            <a:ext cx="4869180" cy="3943351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7" name="Text Placeholder 3"/>
          <p:cNvSpPr/>
          <p:nvPr>
            <p:ph type="body" sz="quarter" idx="21"/>
          </p:nvPr>
        </p:nvSpPr>
        <p:spPr>
          <a:xfrm>
            <a:off x="342900" y="2194560"/>
            <a:ext cx="2400300" cy="2534344"/>
          </a:xfrm>
          <a:prstGeom prst="rect">
            <a:avLst/>
          </a:prstGeom>
        </p:spPr>
        <p:txBody>
          <a:bodyPr lIns="45719" tIns="45719" rIns="45719" bIns="45719"/>
          <a:lstStyle/>
          <a:p>
            <a:pPr marL="0" indent="0">
              <a:buClrTx/>
              <a:buSzTx/>
              <a:buFontTx/>
              <a:buNone/>
              <a:defRPr sz="1100"/>
            </a:pP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96" name="Rectangle 8"/>
          <p:cNvSpPr/>
          <p:nvPr/>
        </p:nvSpPr>
        <p:spPr>
          <a:xfrm>
            <a:off x="12" y="3686307"/>
            <a:ext cx="9141619" cy="48007"/>
          </a:xfrm>
          <a:prstGeom prst="rect">
            <a:avLst/>
          </a:pr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97" name="Title Text"/>
          <p:cNvSpPr txBox="1"/>
          <p:nvPr>
            <p:ph type="title"/>
          </p:nvPr>
        </p:nvSpPr>
        <p:spPr>
          <a:xfrm>
            <a:off x="822960" y="3806190"/>
            <a:ext cx="7585234" cy="617221"/>
          </a:xfrm>
          <a:prstGeom prst="rect">
            <a:avLst/>
          </a:prstGeom>
        </p:spPr>
        <p:txBody>
          <a:bodyPr lIns="0" tIns="0" rIns="0" bIns="0"/>
          <a:lstStyle>
            <a:lvl1pPr>
              <a:defRPr sz="2700"/>
            </a:lvl1pPr>
          </a:lstStyle>
          <a:p>
            <a:pPr/>
            <a:r>
              <a:t>Title Text</a:t>
            </a:r>
          </a:p>
        </p:txBody>
      </p:sp>
      <p:sp>
        <p:nvSpPr>
          <p:cNvPr id="98" name="Picture Placeholder 2"/>
          <p:cNvSpPr/>
          <p:nvPr>
            <p:ph type="pic" idx="21"/>
          </p:nvPr>
        </p:nvSpPr>
        <p:spPr>
          <a:xfrm>
            <a:off x="11" y="0"/>
            <a:ext cx="9143991" cy="368630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9" name="Body Level One…"/>
          <p:cNvSpPr txBox="1"/>
          <p:nvPr>
            <p:ph type="body" sz="quarter" idx="1"/>
          </p:nvPr>
        </p:nvSpPr>
        <p:spPr>
          <a:xfrm>
            <a:off x="822960" y="4430267"/>
            <a:ext cx="7584948" cy="44577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400"/>
              </a:spcBef>
              <a:buClrTx/>
              <a:buSzTx/>
              <a:buFontTx/>
              <a:buNone/>
              <a:defRPr sz="1100"/>
            </a:lvl1pPr>
            <a:lvl2pPr marL="0" indent="342900">
              <a:spcBef>
                <a:spcPts val="400"/>
              </a:spcBef>
              <a:buClrTx/>
              <a:buSzTx/>
              <a:buFontTx/>
              <a:buNone/>
              <a:defRPr sz="1100"/>
            </a:lvl2pPr>
            <a:lvl3pPr marL="0" indent="685800">
              <a:spcBef>
                <a:spcPts val="400"/>
              </a:spcBef>
              <a:buClrTx/>
              <a:buSzTx/>
              <a:buFontTx/>
              <a:buNone/>
              <a:defRPr sz="1100"/>
            </a:lvl3pPr>
            <a:lvl4pPr marL="0" indent="1028700">
              <a:spcBef>
                <a:spcPts val="400"/>
              </a:spcBef>
              <a:buClrTx/>
              <a:buSzTx/>
              <a:buFontTx/>
              <a:buNone/>
              <a:defRPr sz="1100"/>
            </a:lvl4pPr>
            <a:lvl5pPr marL="0" indent="1371600">
              <a:spcBef>
                <a:spcPts val="400"/>
              </a:spcBef>
              <a:buClrTx/>
              <a:buSzTx/>
              <a:buFontTx/>
              <a:buNone/>
              <a:defRPr sz="1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73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1" y="4800600"/>
            <a:ext cx="9144001" cy="3429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3" name="Rectangle 8"/>
          <p:cNvSpPr/>
          <p:nvPr/>
        </p:nvSpPr>
        <p:spPr>
          <a:xfrm>
            <a:off x="11" y="4750737"/>
            <a:ext cx="9143991" cy="49864"/>
          </a:xfrm>
          <a:prstGeom prst="rect">
            <a:avLst/>
          </a:pr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000000"/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sp>
        <p:nvSpPr>
          <p:cNvPr id="4" name="Straight Connector 9"/>
          <p:cNvSpPr/>
          <p:nvPr/>
        </p:nvSpPr>
        <p:spPr>
          <a:xfrm>
            <a:off x="895149" y="1303384"/>
            <a:ext cx="7475220" cy="1"/>
          </a:xfrm>
          <a:prstGeom prst="line">
            <a:avLst/>
          </a:prstGeom>
          <a:ln w="635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5" name="Title Text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6" name="Body Level One…"/>
          <p:cNvSpPr txBox="1"/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"/>
          <p:cNvSpPr txBox="1"/>
          <p:nvPr>
            <p:ph type="sldNum" sz="quarter" idx="2"/>
          </p:nvPr>
        </p:nvSpPr>
        <p:spPr>
          <a:xfrm>
            <a:off x="8163959" y="4868268"/>
            <a:ext cx="245404" cy="22698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000"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6858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38" strike="noStrike" sz="3600" u="none">
          <a:solidFill>
            <a:schemeClr val="accent1">
              <a:lumOff val="44000"/>
            </a:schemeClr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6858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38" strike="noStrike" sz="3600" u="none">
          <a:solidFill>
            <a:schemeClr val="accent1">
              <a:lumOff val="44000"/>
            </a:schemeClr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6858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38" strike="noStrike" sz="3600" u="none">
          <a:solidFill>
            <a:schemeClr val="accent1">
              <a:lumOff val="44000"/>
            </a:schemeClr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6858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38" strike="noStrike" sz="3600" u="none">
          <a:solidFill>
            <a:schemeClr val="accent1">
              <a:lumOff val="44000"/>
            </a:schemeClr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6858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38" strike="noStrike" sz="3600" u="none">
          <a:solidFill>
            <a:schemeClr val="accent1">
              <a:lumOff val="44000"/>
            </a:schemeClr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6858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38" strike="noStrike" sz="3600" u="none">
          <a:solidFill>
            <a:schemeClr val="accent1">
              <a:lumOff val="44000"/>
            </a:schemeClr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6858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38" strike="noStrike" sz="3600" u="none">
          <a:solidFill>
            <a:schemeClr val="accent1">
              <a:lumOff val="44000"/>
            </a:schemeClr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6858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38" strike="noStrike" sz="3600" u="none">
          <a:solidFill>
            <a:schemeClr val="accent1">
              <a:lumOff val="44000"/>
            </a:schemeClr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685800" rtl="0" latinLnBrk="0">
        <a:lnSpc>
          <a:spcPct val="85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38" strike="noStrike" sz="3600" u="none">
          <a:solidFill>
            <a:schemeClr val="accent1">
              <a:lumOff val="44000"/>
            </a:schemeClr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68580" marR="0" indent="-68580" algn="l" defTabSz="685800" rtl="0" latinLnBrk="0">
        <a:lnSpc>
          <a:spcPct val="90000"/>
        </a:lnSpc>
        <a:spcBef>
          <a:spcPts val="900"/>
        </a:spcBef>
        <a:spcAft>
          <a:spcPts val="0"/>
        </a:spcAft>
        <a:buClr>
          <a:schemeClr val="accent1">
            <a:lumOff val="44000"/>
          </a:schemeClr>
        </a:buClr>
        <a:buSzPct val="100000"/>
        <a:buFont typeface="Calibri"/>
        <a:buChar char=" "/>
        <a:tabLst/>
        <a:defRPr b="0" baseline="0" cap="none" i="0" spc="0" strike="noStrike" sz="1500" u="none">
          <a:solidFill>
            <a:schemeClr val="accent1">
              <a:lumOff val="44000"/>
            </a:schemeClr>
          </a:solidFill>
          <a:uFillTx/>
          <a:latin typeface="Calibri"/>
          <a:ea typeface="Calibri"/>
          <a:cs typeface="Calibri"/>
          <a:sym typeface="Calibri"/>
        </a:defRPr>
      </a:lvl1pPr>
      <a:lvl2pPr marL="309137" marR="0" indent="-158261" algn="l" defTabSz="685800" rtl="0" latinLnBrk="0">
        <a:lnSpc>
          <a:spcPct val="90000"/>
        </a:lnSpc>
        <a:spcBef>
          <a:spcPts val="900"/>
        </a:spcBef>
        <a:spcAft>
          <a:spcPts val="0"/>
        </a:spcAft>
        <a:buClr>
          <a:schemeClr val="accent1">
            <a:lumOff val="44000"/>
          </a:schemeClr>
        </a:buClr>
        <a:buSzPct val="100000"/>
        <a:buFont typeface="Calibri"/>
        <a:buChar char="◦"/>
        <a:tabLst/>
        <a:defRPr b="0" baseline="0" cap="none" i="0" spc="0" strike="noStrike" sz="1500" u="none">
          <a:solidFill>
            <a:schemeClr val="accent1">
              <a:lumOff val="44000"/>
            </a:schemeClr>
          </a:solidFill>
          <a:uFillTx/>
          <a:latin typeface="Calibri"/>
          <a:ea typeface="Calibri"/>
          <a:cs typeface="Calibri"/>
          <a:sym typeface="Calibri"/>
        </a:defRPr>
      </a:lvl2pPr>
      <a:lvl3pPr marL="493775" marR="0" indent="-205739" algn="l" defTabSz="685800" rtl="0" latinLnBrk="0">
        <a:lnSpc>
          <a:spcPct val="90000"/>
        </a:lnSpc>
        <a:spcBef>
          <a:spcPts val="900"/>
        </a:spcBef>
        <a:spcAft>
          <a:spcPts val="0"/>
        </a:spcAft>
        <a:buClr>
          <a:schemeClr val="accent1">
            <a:lumOff val="44000"/>
          </a:schemeClr>
        </a:buClr>
        <a:buSzPct val="100000"/>
        <a:buFont typeface="Calibri"/>
        <a:buChar char="◦"/>
        <a:tabLst/>
        <a:defRPr b="0" baseline="0" cap="none" i="0" spc="0" strike="noStrike" sz="1500" u="none">
          <a:solidFill>
            <a:schemeClr val="accent1">
              <a:lumOff val="44000"/>
            </a:schemeClr>
          </a:solidFill>
          <a:uFillTx/>
          <a:latin typeface="Calibri"/>
          <a:ea typeface="Calibri"/>
          <a:cs typeface="Calibri"/>
          <a:sym typeface="Calibri"/>
        </a:defRPr>
      </a:lvl3pPr>
      <a:lvl4pPr marL="630936" marR="0" indent="-205740" algn="l" defTabSz="685800" rtl="0" latinLnBrk="0">
        <a:lnSpc>
          <a:spcPct val="90000"/>
        </a:lnSpc>
        <a:spcBef>
          <a:spcPts val="900"/>
        </a:spcBef>
        <a:spcAft>
          <a:spcPts val="0"/>
        </a:spcAft>
        <a:buClr>
          <a:schemeClr val="accent1">
            <a:lumOff val="44000"/>
          </a:schemeClr>
        </a:buClr>
        <a:buSzPct val="100000"/>
        <a:buFont typeface="Calibri"/>
        <a:buChar char="◦"/>
        <a:tabLst/>
        <a:defRPr b="0" baseline="0" cap="none" i="0" spc="0" strike="noStrike" sz="1500" u="none">
          <a:solidFill>
            <a:schemeClr val="accent1">
              <a:lumOff val="44000"/>
            </a:schemeClr>
          </a:solidFill>
          <a:uFillTx/>
          <a:latin typeface="Calibri"/>
          <a:ea typeface="Calibri"/>
          <a:cs typeface="Calibri"/>
          <a:sym typeface="Calibri"/>
        </a:defRPr>
      </a:lvl4pPr>
      <a:lvl5pPr marL="768096" marR="0" indent="-205740" algn="l" defTabSz="685800" rtl="0" latinLnBrk="0">
        <a:lnSpc>
          <a:spcPct val="90000"/>
        </a:lnSpc>
        <a:spcBef>
          <a:spcPts val="900"/>
        </a:spcBef>
        <a:spcAft>
          <a:spcPts val="0"/>
        </a:spcAft>
        <a:buClr>
          <a:schemeClr val="accent1">
            <a:lumOff val="44000"/>
          </a:schemeClr>
        </a:buClr>
        <a:buSzPct val="100000"/>
        <a:buFont typeface="Calibri"/>
        <a:buChar char="◦"/>
        <a:tabLst/>
        <a:defRPr b="0" baseline="0" cap="none" i="0" spc="0" strike="noStrike" sz="1500" u="none">
          <a:solidFill>
            <a:schemeClr val="accent1">
              <a:lumOff val="44000"/>
            </a:schemeClr>
          </a:solidFill>
          <a:uFillTx/>
          <a:latin typeface="Calibri"/>
          <a:ea typeface="Calibri"/>
          <a:cs typeface="Calibri"/>
          <a:sym typeface="Calibri"/>
        </a:defRPr>
      </a:lvl5pPr>
      <a:lvl6pPr marL="910725" marR="0" indent="-257175" algn="l" defTabSz="685800" rtl="0" latinLnBrk="0">
        <a:lnSpc>
          <a:spcPct val="90000"/>
        </a:lnSpc>
        <a:spcBef>
          <a:spcPts val="900"/>
        </a:spcBef>
        <a:spcAft>
          <a:spcPts val="0"/>
        </a:spcAft>
        <a:buClr>
          <a:schemeClr val="accent1">
            <a:lumOff val="44000"/>
          </a:schemeClr>
        </a:buClr>
        <a:buSzPct val="100000"/>
        <a:buFont typeface="Calibri"/>
        <a:buChar char="◦"/>
        <a:tabLst/>
        <a:defRPr b="0" baseline="0" cap="none" i="0" spc="0" strike="noStrike" sz="1500" u="none">
          <a:solidFill>
            <a:schemeClr val="accent1">
              <a:lumOff val="44000"/>
            </a:schemeClr>
          </a:solidFill>
          <a:uFillTx/>
          <a:latin typeface="Calibri"/>
          <a:ea typeface="Calibri"/>
          <a:cs typeface="Calibri"/>
          <a:sym typeface="Calibri"/>
        </a:defRPr>
      </a:lvl6pPr>
      <a:lvl7pPr marL="1060724" marR="0" indent="-257175" algn="l" defTabSz="685800" rtl="0" latinLnBrk="0">
        <a:lnSpc>
          <a:spcPct val="90000"/>
        </a:lnSpc>
        <a:spcBef>
          <a:spcPts val="900"/>
        </a:spcBef>
        <a:spcAft>
          <a:spcPts val="0"/>
        </a:spcAft>
        <a:buClr>
          <a:schemeClr val="accent1">
            <a:lumOff val="44000"/>
          </a:schemeClr>
        </a:buClr>
        <a:buSzPct val="100000"/>
        <a:buFont typeface="Calibri"/>
        <a:buChar char="◦"/>
        <a:tabLst/>
        <a:defRPr b="0" baseline="0" cap="none" i="0" spc="0" strike="noStrike" sz="1500" u="none">
          <a:solidFill>
            <a:schemeClr val="accent1">
              <a:lumOff val="44000"/>
            </a:schemeClr>
          </a:solidFill>
          <a:uFillTx/>
          <a:latin typeface="Calibri"/>
          <a:ea typeface="Calibri"/>
          <a:cs typeface="Calibri"/>
          <a:sym typeface="Calibri"/>
        </a:defRPr>
      </a:lvl7pPr>
      <a:lvl8pPr marL="1210725" marR="0" indent="-257175" algn="l" defTabSz="685800" rtl="0" latinLnBrk="0">
        <a:lnSpc>
          <a:spcPct val="90000"/>
        </a:lnSpc>
        <a:spcBef>
          <a:spcPts val="900"/>
        </a:spcBef>
        <a:spcAft>
          <a:spcPts val="0"/>
        </a:spcAft>
        <a:buClr>
          <a:schemeClr val="accent1">
            <a:lumOff val="44000"/>
          </a:schemeClr>
        </a:buClr>
        <a:buSzPct val="100000"/>
        <a:buFont typeface="Calibri"/>
        <a:buChar char="◦"/>
        <a:tabLst/>
        <a:defRPr b="0" baseline="0" cap="none" i="0" spc="0" strike="noStrike" sz="1500" u="none">
          <a:solidFill>
            <a:schemeClr val="accent1">
              <a:lumOff val="44000"/>
            </a:schemeClr>
          </a:solidFill>
          <a:uFillTx/>
          <a:latin typeface="Calibri"/>
          <a:ea typeface="Calibri"/>
          <a:cs typeface="Calibri"/>
          <a:sym typeface="Calibri"/>
        </a:defRPr>
      </a:lvl8pPr>
      <a:lvl9pPr marL="1360724" marR="0" indent="-257175" algn="l" defTabSz="685800" rtl="0" latinLnBrk="0">
        <a:lnSpc>
          <a:spcPct val="90000"/>
        </a:lnSpc>
        <a:spcBef>
          <a:spcPts val="900"/>
        </a:spcBef>
        <a:spcAft>
          <a:spcPts val="0"/>
        </a:spcAft>
        <a:buClr>
          <a:schemeClr val="accent1">
            <a:lumOff val="44000"/>
          </a:schemeClr>
        </a:buClr>
        <a:buSzPct val="100000"/>
        <a:buFont typeface="Calibri"/>
        <a:buChar char="◦"/>
        <a:tabLst/>
        <a:defRPr b="0" baseline="0" cap="none" i="0" spc="0" strike="noStrike" sz="1500" u="none">
          <a:solidFill>
            <a:schemeClr val="accent1">
              <a:lumOff val="44000"/>
            </a:schemeClr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3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0.png"/><Relationship Id="rId9" Type="http://schemas.openxmlformats.org/officeDocument/2006/relationships/image" Target="../media/image4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jpe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54"/>
          <p:cNvSpPr txBox="1"/>
          <p:nvPr>
            <p:ph type="ctrTitle"/>
          </p:nvPr>
        </p:nvSpPr>
        <p:spPr>
          <a:xfrm>
            <a:off x="822960" y="569213"/>
            <a:ext cx="7543801" cy="2674622"/>
          </a:xfrm>
          <a:prstGeom prst="rect">
            <a:avLst/>
          </a:prstGeom>
        </p:spPr>
        <p:txBody>
          <a:bodyPr lIns="91424" tIns="91424" rIns="91424" bIns="91424"/>
          <a:lstStyle>
            <a:lvl1pPr algn="ctr">
              <a:defRPr spc="-100"/>
            </a:lvl1pPr>
          </a:lstStyle>
          <a:p>
            <a:pPr/>
            <a:r>
              <a:t>Proyecto Integrador 1</a:t>
            </a:r>
          </a:p>
        </p:txBody>
      </p:sp>
      <p:sp>
        <p:nvSpPr>
          <p:cNvPr id="110" name="Shape 55"/>
          <p:cNvSpPr txBox="1"/>
          <p:nvPr>
            <p:ph type="subTitle" sz="half" idx="1"/>
          </p:nvPr>
        </p:nvSpPr>
        <p:spPr>
          <a:xfrm>
            <a:off x="825038" y="3341716"/>
            <a:ext cx="7543801" cy="1462283"/>
          </a:xfrm>
          <a:prstGeom prst="rect">
            <a:avLst/>
          </a:prstGeom>
        </p:spPr>
        <p:txBody>
          <a:bodyPr lIns="91424" tIns="91424" rIns="91424" bIns="91424"/>
          <a:lstStyle/>
          <a:p>
            <a:pPr>
              <a:spcBef>
                <a:spcPts val="0"/>
              </a:spcBef>
              <a:defRPr spc="100"/>
            </a:pPr>
            <a:r>
              <a:t>Domiciano RIncón</a:t>
            </a:r>
          </a:p>
          <a:p>
            <a:pPr>
              <a:spcBef>
                <a:spcPts val="0"/>
              </a:spcBef>
              <a:defRPr spc="100" sz="1400"/>
            </a:pPr>
            <a:r>
              <a:t>Ingeniería Telemática</a:t>
            </a:r>
          </a:p>
        </p:txBody>
      </p:sp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95636" y="915566"/>
            <a:ext cx="2752726" cy="8667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ítulo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DOMICIANO RINCÓN</a:t>
            </a:r>
          </a:p>
        </p:txBody>
      </p:sp>
      <p:sp>
        <p:nvSpPr>
          <p:cNvPr id="114" name="Marcador de contenido 2"/>
          <p:cNvSpPr txBox="1"/>
          <p:nvPr>
            <p:ph type="body" sz="half" idx="1"/>
          </p:nvPr>
        </p:nvSpPr>
        <p:spPr>
          <a:xfrm>
            <a:off x="822959" y="1384300"/>
            <a:ext cx="4685146" cy="3017522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81000"/>
              </a:lnSpc>
              <a:buSzTx/>
              <a:buNone/>
              <a:defRPr b="1" sz="1300"/>
            </a:pPr>
            <a:r>
              <a:t>Cursos a cargo:</a:t>
            </a:r>
            <a:r>
              <a:rPr b="0"/>
              <a:t> Aplicaciones móviles, Proyecto Integrador 1 de SIS y TEL. Coordinador del club de programación competitiva. </a:t>
            </a:r>
          </a:p>
          <a:p>
            <a:pPr marL="0" indent="0">
              <a:lnSpc>
                <a:spcPct val="81000"/>
              </a:lnSpc>
              <a:buSzTx/>
              <a:buNone/>
              <a:defRPr b="1" sz="1300"/>
            </a:pPr>
            <a:r>
              <a:t>Hobbies y curiosidades:</a:t>
            </a:r>
            <a:r>
              <a:rPr b="0"/>
              <a:t> Me gusta la geografía y el tema espacial. Se coser a mano, con cosedora y bordar. Me gusta dibujar y ver los diferentes estilos artísticos de los tatuajes aunque no tengo ninguno</a:t>
            </a:r>
          </a:p>
          <a:p>
            <a:pPr marL="0" indent="0">
              <a:lnSpc>
                <a:spcPct val="81000"/>
              </a:lnSpc>
              <a:buSzTx/>
              <a:buNone/>
              <a:defRPr b="1" sz="1300"/>
            </a:pPr>
            <a:r>
              <a:t>Intereses: </a:t>
            </a:r>
            <a:r>
              <a:rPr b="0"/>
              <a:t>Me apasiona desarrollar desde hardware hasta software, desde frontend hasta backend. Me he especializado en programar aplicaciones móviles usando diversas tecnologías y lenguajes. También me gusta el tratamiento y análisis de señales y datos aplicador a la salud.</a:t>
            </a:r>
          </a:p>
          <a:p>
            <a:pPr marL="0" indent="0">
              <a:lnSpc>
                <a:spcPct val="81000"/>
              </a:lnSpc>
              <a:buSzTx/>
              <a:buNone/>
              <a:defRPr b="1" sz="1300"/>
            </a:pPr>
            <a:r>
              <a:t>Intereses: </a:t>
            </a:r>
            <a:r>
              <a:rPr b="0"/>
              <a:t>Formar un grupo de estudiantes que se le midan a problemas algorítmicos retadores y salgan bien librados. Que desarrollen programas de calidad</a:t>
            </a:r>
          </a:p>
        </p:txBody>
      </p:sp>
      <p:pic>
        <p:nvPicPr>
          <p:cNvPr id="11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24128" y="1579229"/>
            <a:ext cx="3088063" cy="27877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ítulo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Materias a integrar</a:t>
            </a:r>
          </a:p>
        </p:txBody>
      </p:sp>
      <p:pic>
        <p:nvPicPr>
          <p:cNvPr id="118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04" y="70936"/>
            <a:ext cx="1353520" cy="42619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1" name="Rounded Rectangle 12"/>
          <p:cNvGrpSpPr/>
          <p:nvPr/>
        </p:nvGrpSpPr>
        <p:grpSpPr>
          <a:xfrm>
            <a:off x="1173047" y="1470034"/>
            <a:ext cx="2520002" cy="360001"/>
            <a:chOff x="0" y="0"/>
            <a:chExt cx="2520000" cy="359999"/>
          </a:xfrm>
        </p:grpSpPr>
        <p:sp>
          <p:nvSpPr>
            <p:cNvPr id="119" name="Rounded Rectangle"/>
            <p:cNvSpPr/>
            <p:nvPr/>
          </p:nvSpPr>
          <p:spPr>
            <a:xfrm>
              <a:off x="0" y="0"/>
              <a:ext cx="2520001" cy="36000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20" name="Electrónica"/>
            <p:cNvSpPr txBox="1"/>
            <p:nvPr/>
          </p:nvSpPr>
          <p:spPr>
            <a:xfrm>
              <a:off x="71231" y="39600"/>
              <a:ext cx="237753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Electrónica</a:t>
              </a:r>
            </a:p>
          </p:txBody>
        </p:sp>
      </p:grpSp>
      <p:grpSp>
        <p:nvGrpSpPr>
          <p:cNvPr id="124" name="Rounded Rectangle 13"/>
          <p:cNvGrpSpPr/>
          <p:nvPr/>
        </p:nvGrpSpPr>
        <p:grpSpPr>
          <a:xfrm>
            <a:off x="1173047" y="1964134"/>
            <a:ext cx="2520001" cy="360001"/>
            <a:chOff x="0" y="0"/>
            <a:chExt cx="2520000" cy="359999"/>
          </a:xfrm>
        </p:grpSpPr>
        <p:sp>
          <p:nvSpPr>
            <p:cNvPr id="122" name="Rounded Rectangle"/>
            <p:cNvSpPr/>
            <p:nvPr/>
          </p:nvSpPr>
          <p:spPr>
            <a:xfrm>
              <a:off x="0" y="0"/>
              <a:ext cx="2520001" cy="36000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23" name="Lógica Digital"/>
            <p:cNvSpPr txBox="1"/>
            <p:nvPr/>
          </p:nvSpPr>
          <p:spPr>
            <a:xfrm>
              <a:off x="71231" y="39600"/>
              <a:ext cx="237753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Lógica Digital</a:t>
              </a:r>
            </a:p>
          </p:txBody>
        </p:sp>
      </p:grpSp>
      <p:grpSp>
        <p:nvGrpSpPr>
          <p:cNvPr id="127" name="Rounded Rectangle 17"/>
          <p:cNvGrpSpPr/>
          <p:nvPr/>
        </p:nvGrpSpPr>
        <p:grpSpPr>
          <a:xfrm>
            <a:off x="5580112" y="1470034"/>
            <a:ext cx="2520001" cy="360001"/>
            <a:chOff x="0" y="0"/>
            <a:chExt cx="2520000" cy="359999"/>
          </a:xfrm>
        </p:grpSpPr>
        <p:sp>
          <p:nvSpPr>
            <p:cNvPr id="125" name="Rounded Rectangle"/>
            <p:cNvSpPr/>
            <p:nvPr/>
          </p:nvSpPr>
          <p:spPr>
            <a:xfrm>
              <a:off x="0" y="0"/>
              <a:ext cx="2520001" cy="36000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26" name="APO 1"/>
            <p:cNvSpPr txBox="1"/>
            <p:nvPr/>
          </p:nvSpPr>
          <p:spPr>
            <a:xfrm>
              <a:off x="71231" y="39600"/>
              <a:ext cx="237753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APO 1</a:t>
              </a:r>
            </a:p>
          </p:txBody>
        </p:sp>
      </p:grpSp>
      <p:grpSp>
        <p:nvGrpSpPr>
          <p:cNvPr id="130" name="Rounded Rectangle 18"/>
          <p:cNvGrpSpPr/>
          <p:nvPr/>
        </p:nvGrpSpPr>
        <p:grpSpPr>
          <a:xfrm>
            <a:off x="5580112" y="1964134"/>
            <a:ext cx="2520001" cy="360001"/>
            <a:chOff x="0" y="0"/>
            <a:chExt cx="2520000" cy="359999"/>
          </a:xfrm>
        </p:grpSpPr>
        <p:sp>
          <p:nvSpPr>
            <p:cNvPr id="128" name="Rounded Rectangle"/>
            <p:cNvSpPr/>
            <p:nvPr/>
          </p:nvSpPr>
          <p:spPr>
            <a:xfrm>
              <a:off x="0" y="0"/>
              <a:ext cx="2520001" cy="36000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29" name="APO 2"/>
            <p:cNvSpPr txBox="1"/>
            <p:nvPr/>
          </p:nvSpPr>
          <p:spPr>
            <a:xfrm>
              <a:off x="71231" y="39600"/>
              <a:ext cx="237753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APO 2</a:t>
              </a:r>
            </a:p>
          </p:txBody>
        </p:sp>
      </p:grpSp>
      <p:sp>
        <p:nvSpPr>
          <p:cNvPr id="131" name="TextBox 22"/>
          <p:cNvSpPr txBox="1"/>
          <p:nvPr/>
        </p:nvSpPr>
        <p:spPr>
          <a:xfrm>
            <a:off x="3335602" y="130145"/>
            <a:ext cx="5482367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PROYECTO INTEGRADOR 1</a:t>
            </a:r>
          </a:p>
        </p:txBody>
      </p:sp>
      <p:sp>
        <p:nvSpPr>
          <p:cNvPr id="132" name="TextBox 25"/>
          <p:cNvSpPr txBox="1"/>
          <p:nvPr/>
        </p:nvSpPr>
        <p:spPr>
          <a:xfrm>
            <a:off x="369608" y="2487234"/>
            <a:ext cx="3868562" cy="1788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  <a:r>
              <a:t>Logros</a:t>
            </a:r>
          </a:p>
          <a:p>
            <a:pPr algn="just">
              <a:defRPr sz="1200">
                <a:solidFill>
                  <a:schemeClr val="accent1">
                    <a:lumOff val="44000"/>
                  </a:schemeClr>
                </a:solidFill>
              </a:defRPr>
            </a:pPr>
            <a:r>
              <a:t>Conocimientos en diseño electrónico, uso de sensores y actuadores. Programación de microcontrolador</a:t>
            </a:r>
          </a:p>
          <a:p>
            <a:pPr algn="just">
              <a:defRPr sz="1200">
                <a:solidFill>
                  <a:schemeClr val="accent1">
                    <a:lumOff val="44000"/>
                  </a:schemeClr>
                </a:solidFill>
              </a:defRPr>
            </a:pPr>
          </a:p>
          <a:p>
            <a:pPr algn="just">
              <a:defRPr sz="1200">
                <a:solidFill>
                  <a:schemeClr val="accent1">
                    <a:lumOff val="44000"/>
                  </a:schemeClr>
                </a:solidFill>
              </a:defRPr>
            </a:pPr>
          </a:p>
          <a:p>
            <a:pPr algn="just">
              <a:defRPr sz="1200">
                <a:solidFill>
                  <a:schemeClr val="accent1">
                    <a:lumOff val="44000"/>
                  </a:schemeClr>
                </a:solidFill>
              </a:defRPr>
            </a:pPr>
          </a:p>
          <a:p>
            <a:pPr algn="just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  <a:r>
              <a:t>Implementarán un nodo hardware que compone el sistema distribuido en red</a:t>
            </a:r>
            <a:endParaRPr>
              <a:solidFill>
                <a:srgbClr val="000000"/>
              </a:solidFill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33" name="TextBox 30"/>
          <p:cNvSpPr txBox="1"/>
          <p:nvPr/>
        </p:nvSpPr>
        <p:spPr>
          <a:xfrm>
            <a:off x="4905831" y="2495056"/>
            <a:ext cx="3868561" cy="1581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  <a:r>
              <a:t>Logros</a:t>
            </a:r>
          </a:p>
          <a:p>
            <a:pPr algn="just">
              <a:defRPr sz="1200">
                <a:solidFill>
                  <a:schemeClr val="accent1">
                    <a:lumOff val="44000"/>
                  </a:schemeClr>
                </a:solidFill>
              </a:defRPr>
            </a:pPr>
            <a:r>
              <a:t>El estudiante es capaz de crear algoritmos usando un lenguaje de programación. Saben usar procesos concurrentes.</a:t>
            </a:r>
          </a:p>
          <a:p>
            <a:pPr algn="just">
              <a:defRPr sz="1200">
                <a:solidFill>
                  <a:schemeClr val="accent1">
                    <a:lumOff val="44000"/>
                  </a:schemeClr>
                </a:solidFill>
              </a:defRPr>
            </a:pPr>
          </a:p>
          <a:p>
            <a:pPr algn="just">
              <a:defRPr sz="1200">
                <a:solidFill>
                  <a:schemeClr val="accent1">
                    <a:lumOff val="44000"/>
                  </a:schemeClr>
                </a:solidFill>
              </a:defRPr>
            </a:pPr>
          </a:p>
          <a:p>
            <a:pPr algn="just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  <a:r>
              <a:t>Usarán programación todo el tiempo, para todos los nodos que componen el sistema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ítulo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Materias a integrar</a:t>
            </a:r>
          </a:p>
        </p:txBody>
      </p:sp>
      <p:pic>
        <p:nvPicPr>
          <p:cNvPr id="136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04" y="70936"/>
            <a:ext cx="1353520" cy="42619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TextBox 22"/>
          <p:cNvSpPr txBox="1"/>
          <p:nvPr/>
        </p:nvSpPr>
        <p:spPr>
          <a:xfrm>
            <a:off x="3335602" y="130145"/>
            <a:ext cx="5482367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PROYECTO INTEGRADOR 1</a:t>
            </a:r>
          </a:p>
        </p:txBody>
      </p:sp>
      <p:sp>
        <p:nvSpPr>
          <p:cNvPr id="138" name="TextBox 3"/>
          <p:cNvSpPr txBox="1"/>
          <p:nvPr/>
        </p:nvSpPr>
        <p:spPr>
          <a:xfrm>
            <a:off x="350198" y="2352357"/>
            <a:ext cx="3868562" cy="2343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</a:p>
          <a:p>
            <a:pPr algn="ctr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</a:p>
          <a:p>
            <a:pPr algn="ctr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</a:p>
          <a:p>
            <a:pPr algn="ctr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</a:p>
          <a:p>
            <a:pPr algn="ctr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  <a:r>
              <a:t>Logros</a:t>
            </a:r>
          </a:p>
          <a:p>
            <a:pPr algn="just">
              <a:defRPr sz="1200">
                <a:solidFill>
                  <a:schemeClr val="accent1">
                    <a:lumOff val="44000"/>
                  </a:schemeClr>
                </a:solidFill>
              </a:defRPr>
            </a:pPr>
            <a:r>
              <a:t>Reconocen, interpretan y diseñan estructuras de datos que permiten el almacenamiento y uso eficaz de la información. Ha programado algoritmos de ordenamiento y búsqueda</a:t>
            </a:r>
          </a:p>
          <a:p>
            <a:pPr algn="just">
              <a:defRPr sz="1200">
                <a:solidFill>
                  <a:schemeClr val="accent1">
                    <a:lumOff val="44000"/>
                  </a:schemeClr>
                </a:solidFill>
              </a:defRPr>
            </a:pPr>
          </a:p>
          <a:p>
            <a:pPr algn="just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  <a:r>
              <a:t>Usarán estas bases para usar tecnologías de base de datos que se basan en los conceptos de búsqueda y ordenamiento</a:t>
            </a:r>
          </a:p>
        </p:txBody>
      </p:sp>
      <p:sp>
        <p:nvSpPr>
          <p:cNvPr id="139" name="TextBox 7"/>
          <p:cNvSpPr txBox="1"/>
          <p:nvPr/>
        </p:nvSpPr>
        <p:spPr>
          <a:xfrm>
            <a:off x="4949408" y="3171621"/>
            <a:ext cx="3868562" cy="1200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  <a:r>
              <a:t>Logros</a:t>
            </a:r>
          </a:p>
          <a:p>
            <a:pPr algn="just">
              <a:defRPr sz="1200">
                <a:solidFill>
                  <a:schemeClr val="accent1">
                    <a:lumOff val="44000"/>
                  </a:schemeClr>
                </a:solidFill>
              </a:defRPr>
            </a:pPr>
            <a:r>
              <a:t>Saben diseñar software y reconocen qué es un sistema interconectado por red.</a:t>
            </a:r>
            <a:endParaRPr>
              <a:solidFill>
                <a:srgbClr val="000000"/>
              </a:solidFill>
              <a:latin typeface="+mj-lt"/>
              <a:ea typeface="+mj-ea"/>
              <a:cs typeface="+mj-cs"/>
              <a:sym typeface="Arial"/>
            </a:endParaRPr>
          </a:p>
          <a:p>
            <a:pPr algn="just">
              <a:defRPr sz="1200">
                <a:solidFill>
                  <a:schemeClr val="accent1">
                    <a:lumOff val="44000"/>
                  </a:schemeClr>
                </a:solidFill>
              </a:defRPr>
            </a:pPr>
          </a:p>
          <a:p>
            <a:pPr algn="just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  <a:r>
              <a:t>Levantarán requerimientos y usarán diagramas para comunicar activamente las soluciones propuestas</a:t>
            </a:r>
          </a:p>
        </p:txBody>
      </p:sp>
      <p:grpSp>
        <p:nvGrpSpPr>
          <p:cNvPr id="142" name="Rounded Rectangle 8"/>
          <p:cNvGrpSpPr/>
          <p:nvPr/>
        </p:nvGrpSpPr>
        <p:grpSpPr>
          <a:xfrm>
            <a:off x="762745" y="2057320"/>
            <a:ext cx="3043466" cy="360001"/>
            <a:chOff x="0" y="0"/>
            <a:chExt cx="3043465" cy="359999"/>
          </a:xfrm>
        </p:grpSpPr>
        <p:sp>
          <p:nvSpPr>
            <p:cNvPr id="140" name="Rounded Rectangle"/>
            <p:cNvSpPr/>
            <p:nvPr/>
          </p:nvSpPr>
          <p:spPr>
            <a:xfrm>
              <a:off x="0" y="0"/>
              <a:ext cx="3043466" cy="36000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41" name="Computación y estructuras discretas I"/>
            <p:cNvSpPr txBox="1"/>
            <p:nvPr/>
          </p:nvSpPr>
          <p:spPr>
            <a:xfrm>
              <a:off x="71231" y="39600"/>
              <a:ext cx="2901003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Computación y estructuras discretas I</a:t>
              </a:r>
            </a:p>
          </p:txBody>
        </p:sp>
      </p:grpSp>
      <p:grpSp>
        <p:nvGrpSpPr>
          <p:cNvPr id="145" name="Rounded Rectangle 9"/>
          <p:cNvGrpSpPr/>
          <p:nvPr/>
        </p:nvGrpSpPr>
        <p:grpSpPr>
          <a:xfrm>
            <a:off x="5580112" y="1992765"/>
            <a:ext cx="2520001" cy="476550"/>
            <a:chOff x="0" y="0"/>
            <a:chExt cx="2520000" cy="476549"/>
          </a:xfrm>
        </p:grpSpPr>
        <p:sp>
          <p:nvSpPr>
            <p:cNvPr id="143" name="Rounded Rectangle"/>
            <p:cNvSpPr/>
            <p:nvPr/>
          </p:nvSpPr>
          <p:spPr>
            <a:xfrm>
              <a:off x="0" y="0"/>
              <a:ext cx="2520001" cy="47655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44" name="Ingesoft 1"/>
            <p:cNvSpPr txBox="1"/>
            <p:nvPr/>
          </p:nvSpPr>
          <p:spPr>
            <a:xfrm>
              <a:off x="76920" y="97875"/>
              <a:ext cx="2366160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Ingesoft 1</a:t>
              </a:r>
            </a:p>
          </p:txBody>
        </p:sp>
      </p:grpSp>
      <p:grpSp>
        <p:nvGrpSpPr>
          <p:cNvPr id="148" name="Rounded Rectangle 10"/>
          <p:cNvGrpSpPr/>
          <p:nvPr/>
        </p:nvGrpSpPr>
        <p:grpSpPr>
          <a:xfrm>
            <a:off x="5580112" y="2533083"/>
            <a:ext cx="2520001" cy="476550"/>
            <a:chOff x="0" y="0"/>
            <a:chExt cx="2520000" cy="476549"/>
          </a:xfrm>
        </p:grpSpPr>
        <p:sp>
          <p:nvSpPr>
            <p:cNvPr id="146" name="Rounded Rectangle"/>
            <p:cNvSpPr/>
            <p:nvPr/>
          </p:nvSpPr>
          <p:spPr>
            <a:xfrm>
              <a:off x="0" y="0"/>
              <a:ext cx="2520001" cy="47655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47" name="Sistemas TIC"/>
            <p:cNvSpPr txBox="1"/>
            <p:nvPr/>
          </p:nvSpPr>
          <p:spPr>
            <a:xfrm>
              <a:off x="76920" y="97875"/>
              <a:ext cx="2366160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Sistemas TIC</a:t>
              </a:r>
            </a:p>
          </p:txBody>
        </p:sp>
      </p:grpSp>
      <p:grpSp>
        <p:nvGrpSpPr>
          <p:cNvPr id="151" name="Rounded Rectangle 14"/>
          <p:cNvGrpSpPr/>
          <p:nvPr/>
        </p:nvGrpSpPr>
        <p:grpSpPr>
          <a:xfrm>
            <a:off x="5580112" y="1447036"/>
            <a:ext cx="2520001" cy="476550"/>
            <a:chOff x="0" y="0"/>
            <a:chExt cx="2520000" cy="476549"/>
          </a:xfrm>
        </p:grpSpPr>
        <p:sp>
          <p:nvSpPr>
            <p:cNvPr id="149" name="Rounded Rectangle"/>
            <p:cNvSpPr/>
            <p:nvPr/>
          </p:nvSpPr>
          <p:spPr>
            <a:xfrm>
              <a:off x="0" y="0"/>
              <a:ext cx="2520001" cy="47655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50" name="Arquitecturas TIC"/>
            <p:cNvSpPr txBox="1"/>
            <p:nvPr/>
          </p:nvSpPr>
          <p:spPr>
            <a:xfrm>
              <a:off x="76920" y="97875"/>
              <a:ext cx="2366160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Arquitecturas TIC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ítulo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Materias a integrar</a:t>
            </a:r>
          </a:p>
        </p:txBody>
      </p:sp>
      <p:pic>
        <p:nvPicPr>
          <p:cNvPr id="154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04" y="70936"/>
            <a:ext cx="1353520" cy="426197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TextBox 22"/>
          <p:cNvSpPr txBox="1"/>
          <p:nvPr/>
        </p:nvSpPr>
        <p:spPr>
          <a:xfrm>
            <a:off x="3335602" y="130145"/>
            <a:ext cx="5482367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PROYECTO INTEGRADOR 1</a:t>
            </a:r>
          </a:p>
        </p:txBody>
      </p:sp>
      <p:sp>
        <p:nvSpPr>
          <p:cNvPr id="156" name="TextBox 3"/>
          <p:cNvSpPr txBox="1"/>
          <p:nvPr/>
        </p:nvSpPr>
        <p:spPr>
          <a:xfrm>
            <a:off x="1377359" y="2545615"/>
            <a:ext cx="5885226" cy="177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</a:p>
          <a:p>
            <a:pPr algn="ctr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</a:p>
          <a:p>
            <a:pPr algn="ctr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</a:p>
          <a:p>
            <a:pPr algn="ctr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</a:p>
          <a:p>
            <a:pPr algn="ctr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  <a:r>
              <a:t>Logros</a:t>
            </a:r>
          </a:p>
          <a:p>
            <a:pPr algn="ctr">
              <a:defRPr sz="1200">
                <a:solidFill>
                  <a:schemeClr val="accent1">
                    <a:lumOff val="44000"/>
                  </a:schemeClr>
                </a:solidFill>
              </a:defRPr>
            </a:pPr>
            <a:r>
              <a:t>Conocen el análisis númerico por medio de Python y sus librerías.</a:t>
            </a:r>
            <a:endParaRPr>
              <a:solidFill>
                <a:srgbClr val="000000"/>
              </a:solidFill>
              <a:latin typeface="+mj-lt"/>
              <a:ea typeface="+mj-ea"/>
              <a:cs typeface="+mj-cs"/>
              <a:sym typeface="Arial"/>
            </a:endParaRPr>
          </a:p>
          <a:p>
            <a:pPr algn="ctr">
              <a:defRPr sz="1200">
                <a:solidFill>
                  <a:schemeClr val="accent1">
                    <a:lumOff val="44000"/>
                  </a:schemeClr>
                </a:solidFill>
              </a:defRPr>
            </a:pPr>
          </a:p>
          <a:p>
            <a:pPr algn="ctr">
              <a:defRPr b="1" sz="1200">
                <a:solidFill>
                  <a:schemeClr val="accent1">
                    <a:lumOff val="44000"/>
                  </a:schemeClr>
                </a:solidFill>
              </a:defRPr>
            </a:pPr>
            <a:r>
              <a:t>Usarán estas bases para usar tecnologías de análisis de datos, enfocado al análisis de señales</a:t>
            </a:r>
          </a:p>
        </p:txBody>
      </p:sp>
      <p:grpSp>
        <p:nvGrpSpPr>
          <p:cNvPr id="159" name="Rounded Rectangle 9"/>
          <p:cNvGrpSpPr/>
          <p:nvPr/>
        </p:nvGrpSpPr>
        <p:grpSpPr>
          <a:xfrm>
            <a:off x="3079320" y="1992765"/>
            <a:ext cx="2520002" cy="476550"/>
            <a:chOff x="0" y="0"/>
            <a:chExt cx="2520000" cy="476549"/>
          </a:xfrm>
        </p:grpSpPr>
        <p:sp>
          <p:nvSpPr>
            <p:cNvPr id="157" name="Rounded Rectangle"/>
            <p:cNvSpPr/>
            <p:nvPr/>
          </p:nvSpPr>
          <p:spPr>
            <a:xfrm>
              <a:off x="0" y="0"/>
              <a:ext cx="2520001" cy="47655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58" name="Matemáticas Aplicadas 2"/>
            <p:cNvSpPr txBox="1"/>
            <p:nvPr/>
          </p:nvSpPr>
          <p:spPr>
            <a:xfrm>
              <a:off x="76920" y="97875"/>
              <a:ext cx="2366160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Matemáticas Aplicadas 2</a:t>
              </a:r>
            </a:p>
          </p:txBody>
        </p:sp>
      </p:grpSp>
      <p:grpSp>
        <p:nvGrpSpPr>
          <p:cNvPr id="162" name="Rounded Rectangle 14"/>
          <p:cNvGrpSpPr/>
          <p:nvPr/>
        </p:nvGrpSpPr>
        <p:grpSpPr>
          <a:xfrm>
            <a:off x="3079320" y="1447036"/>
            <a:ext cx="2520002" cy="476550"/>
            <a:chOff x="0" y="0"/>
            <a:chExt cx="2520000" cy="476549"/>
          </a:xfrm>
        </p:grpSpPr>
        <p:sp>
          <p:nvSpPr>
            <p:cNvPr id="160" name="Rounded Rectangle"/>
            <p:cNvSpPr/>
            <p:nvPr/>
          </p:nvSpPr>
          <p:spPr>
            <a:xfrm>
              <a:off x="0" y="0"/>
              <a:ext cx="2520001" cy="47655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61" name="Matemáticas Aplicadas 1"/>
            <p:cNvSpPr txBox="1"/>
            <p:nvPr/>
          </p:nvSpPr>
          <p:spPr>
            <a:xfrm>
              <a:off x="76920" y="97875"/>
              <a:ext cx="2366160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Matemáticas Aplicadas 1</a:t>
              </a:r>
            </a:p>
          </p:txBody>
        </p:sp>
      </p:grpSp>
      <p:grpSp>
        <p:nvGrpSpPr>
          <p:cNvPr id="165" name="Rounded Rectangle 2"/>
          <p:cNvGrpSpPr/>
          <p:nvPr/>
        </p:nvGrpSpPr>
        <p:grpSpPr>
          <a:xfrm>
            <a:off x="3079320" y="2538495"/>
            <a:ext cx="2520002" cy="476550"/>
            <a:chOff x="0" y="0"/>
            <a:chExt cx="2520000" cy="476549"/>
          </a:xfrm>
        </p:grpSpPr>
        <p:sp>
          <p:nvSpPr>
            <p:cNvPr id="163" name="Rounded Rectangle"/>
            <p:cNvSpPr/>
            <p:nvPr/>
          </p:nvSpPr>
          <p:spPr>
            <a:xfrm>
              <a:off x="0" y="0"/>
              <a:ext cx="2520001" cy="47655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64" name="Matemáticas Aplicadas 3"/>
            <p:cNvSpPr txBox="1"/>
            <p:nvPr/>
          </p:nvSpPr>
          <p:spPr>
            <a:xfrm>
              <a:off x="76920" y="97875"/>
              <a:ext cx="2366160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Matemáticas Aplicadas 3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ítulo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Unidades</a:t>
            </a:r>
          </a:p>
        </p:txBody>
      </p:sp>
      <p:sp>
        <p:nvSpPr>
          <p:cNvPr id="168" name="CuadroTexto 7"/>
          <p:cNvSpPr txBox="1"/>
          <p:nvPr/>
        </p:nvSpPr>
        <p:spPr>
          <a:xfrm>
            <a:off x="1161335" y="1593710"/>
            <a:ext cx="3148562" cy="3133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SERVICIOS EN RED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Uso de la red en software. Envío y recepción de datos, RestAPI, backend, arquitectura de capas, HTTP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</a:p>
          <a:p>
            <a: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BASE DE DATOS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Diseño de base de datos, base de datos como componente de la red. Uso de bases de datos relacionales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</a:p>
          <a:p>
            <a: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CONSUMO DE SERVICIOS REST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Comunicación con REST API, HTTP desde </a:t>
            </a:r>
            <a:r>
              <a:rPr b="1"/>
              <a:t>web</a:t>
            </a:r>
            <a:r>
              <a:t> y desde un dispositivo </a:t>
            </a:r>
            <a:r>
              <a:rPr b="1"/>
              <a:t>electrónico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69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04" y="70936"/>
            <a:ext cx="1353520" cy="42619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2" name="Elipse 2"/>
          <p:cNvGrpSpPr/>
          <p:nvPr/>
        </p:nvGrpSpPr>
        <p:grpSpPr>
          <a:xfrm>
            <a:off x="625303" y="1651748"/>
            <a:ext cx="360041" cy="360041"/>
            <a:chOff x="0" y="0"/>
            <a:chExt cx="360040" cy="360040"/>
          </a:xfrm>
        </p:grpSpPr>
        <p:sp>
          <p:nvSpPr>
            <p:cNvPr id="170" name="Circle"/>
            <p:cNvSpPr/>
            <p:nvPr/>
          </p:nvSpPr>
          <p:spPr>
            <a:xfrm>
              <a:off x="-1" y="-1"/>
              <a:ext cx="360042" cy="360042"/>
            </a:xfrm>
            <a:prstGeom prst="ellipse">
              <a:avLst/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71" name="1"/>
            <p:cNvSpPr txBox="1"/>
            <p:nvPr/>
          </p:nvSpPr>
          <p:spPr>
            <a:xfrm>
              <a:off x="98446" y="39620"/>
              <a:ext cx="16314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1</a:t>
              </a:r>
            </a:p>
          </p:txBody>
        </p:sp>
      </p:grpSp>
      <p:grpSp>
        <p:nvGrpSpPr>
          <p:cNvPr id="175" name="Elipse 13"/>
          <p:cNvGrpSpPr/>
          <p:nvPr/>
        </p:nvGrpSpPr>
        <p:grpSpPr>
          <a:xfrm>
            <a:off x="625303" y="2727842"/>
            <a:ext cx="360041" cy="360041"/>
            <a:chOff x="0" y="0"/>
            <a:chExt cx="360040" cy="360040"/>
          </a:xfrm>
        </p:grpSpPr>
        <p:sp>
          <p:nvSpPr>
            <p:cNvPr id="173" name="Circle"/>
            <p:cNvSpPr/>
            <p:nvPr/>
          </p:nvSpPr>
          <p:spPr>
            <a:xfrm>
              <a:off x="-1" y="-1"/>
              <a:ext cx="360042" cy="360042"/>
            </a:xfrm>
            <a:prstGeom prst="ellipse">
              <a:avLst/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74" name="2"/>
            <p:cNvSpPr txBox="1"/>
            <p:nvPr/>
          </p:nvSpPr>
          <p:spPr>
            <a:xfrm>
              <a:off x="98446" y="39620"/>
              <a:ext cx="16314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2</a:t>
              </a:r>
            </a:p>
          </p:txBody>
        </p:sp>
      </p:grpSp>
      <p:sp>
        <p:nvSpPr>
          <p:cNvPr id="176" name="CuadroTexto 8"/>
          <p:cNvSpPr txBox="1"/>
          <p:nvPr/>
        </p:nvSpPr>
        <p:spPr>
          <a:xfrm>
            <a:off x="5360059" y="1593710"/>
            <a:ext cx="3148562" cy="2117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DESPLIEGUE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Uso de contenedores para distribuir la solución en la red local y remota.</a:t>
            </a:r>
            <a:endParaRPr>
              <a:solidFill>
                <a:srgbClr val="000000"/>
              </a:solidFill>
            </a:endParaRPr>
          </a:p>
          <a:p>
            <a: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</a:p>
          <a:p>
            <a: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GESTIÓN ÁGUIL DE PROYECTOS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Workflow, estrategias de branching, product backlog, gestión del avace del proyecto.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grpSp>
        <p:nvGrpSpPr>
          <p:cNvPr id="179" name="Elipse 9"/>
          <p:cNvGrpSpPr/>
          <p:nvPr/>
        </p:nvGrpSpPr>
        <p:grpSpPr>
          <a:xfrm>
            <a:off x="625303" y="3756328"/>
            <a:ext cx="360041" cy="360041"/>
            <a:chOff x="0" y="0"/>
            <a:chExt cx="360040" cy="360040"/>
          </a:xfrm>
        </p:grpSpPr>
        <p:sp>
          <p:nvSpPr>
            <p:cNvPr id="177" name="Circle"/>
            <p:cNvSpPr/>
            <p:nvPr/>
          </p:nvSpPr>
          <p:spPr>
            <a:xfrm>
              <a:off x="-1" y="-1"/>
              <a:ext cx="360042" cy="360042"/>
            </a:xfrm>
            <a:prstGeom prst="ellipse">
              <a:avLst/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78" name="3"/>
            <p:cNvSpPr txBox="1"/>
            <p:nvPr/>
          </p:nvSpPr>
          <p:spPr>
            <a:xfrm>
              <a:off x="98446" y="39620"/>
              <a:ext cx="16314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3</a:t>
              </a:r>
            </a:p>
          </p:txBody>
        </p:sp>
      </p:grpSp>
      <p:grpSp>
        <p:nvGrpSpPr>
          <p:cNvPr id="182" name="Elipse 10"/>
          <p:cNvGrpSpPr/>
          <p:nvPr/>
        </p:nvGrpSpPr>
        <p:grpSpPr>
          <a:xfrm>
            <a:off x="4810304" y="1663392"/>
            <a:ext cx="360041" cy="360041"/>
            <a:chOff x="0" y="0"/>
            <a:chExt cx="360040" cy="360040"/>
          </a:xfrm>
        </p:grpSpPr>
        <p:sp>
          <p:nvSpPr>
            <p:cNvPr id="180" name="Circle"/>
            <p:cNvSpPr/>
            <p:nvPr/>
          </p:nvSpPr>
          <p:spPr>
            <a:xfrm>
              <a:off x="-1" y="-1"/>
              <a:ext cx="360042" cy="360042"/>
            </a:xfrm>
            <a:prstGeom prst="ellipse">
              <a:avLst/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81" name="4"/>
            <p:cNvSpPr txBox="1"/>
            <p:nvPr/>
          </p:nvSpPr>
          <p:spPr>
            <a:xfrm>
              <a:off x="98446" y="39620"/>
              <a:ext cx="16314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4</a:t>
              </a:r>
            </a:p>
          </p:txBody>
        </p:sp>
      </p:grpSp>
      <p:grpSp>
        <p:nvGrpSpPr>
          <p:cNvPr id="185" name="Elipse 10"/>
          <p:cNvGrpSpPr/>
          <p:nvPr/>
        </p:nvGrpSpPr>
        <p:grpSpPr>
          <a:xfrm>
            <a:off x="4810304" y="2726553"/>
            <a:ext cx="360041" cy="360041"/>
            <a:chOff x="0" y="0"/>
            <a:chExt cx="360040" cy="360040"/>
          </a:xfrm>
        </p:grpSpPr>
        <p:sp>
          <p:nvSpPr>
            <p:cNvPr id="183" name="Circle"/>
            <p:cNvSpPr/>
            <p:nvPr/>
          </p:nvSpPr>
          <p:spPr>
            <a:xfrm>
              <a:off x="-1" y="-1"/>
              <a:ext cx="360042" cy="360042"/>
            </a:xfrm>
            <a:prstGeom prst="ellipse">
              <a:avLst/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84" name="5"/>
            <p:cNvSpPr txBox="1"/>
            <p:nvPr/>
          </p:nvSpPr>
          <p:spPr>
            <a:xfrm>
              <a:off x="98446" y="39620"/>
              <a:ext cx="16314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itle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Composición del curso</a:t>
            </a:r>
          </a:p>
        </p:txBody>
      </p:sp>
      <p:grpSp>
        <p:nvGrpSpPr>
          <p:cNvPr id="190" name="Rounded Rectangle 6"/>
          <p:cNvGrpSpPr/>
          <p:nvPr/>
        </p:nvGrpSpPr>
        <p:grpSpPr>
          <a:xfrm>
            <a:off x="598805" y="1648996"/>
            <a:ext cx="1958198" cy="346691"/>
            <a:chOff x="0" y="0"/>
            <a:chExt cx="1958196" cy="346690"/>
          </a:xfrm>
        </p:grpSpPr>
        <p:sp>
          <p:nvSpPr>
            <p:cNvPr id="188" name="Rounded Rectangle"/>
            <p:cNvSpPr/>
            <p:nvPr/>
          </p:nvSpPr>
          <p:spPr>
            <a:xfrm>
              <a:off x="0" y="0"/>
              <a:ext cx="1958197" cy="34669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89" name="Servicios en red"/>
            <p:cNvSpPr txBox="1"/>
            <p:nvPr/>
          </p:nvSpPr>
          <p:spPr>
            <a:xfrm>
              <a:off x="62643" y="59089"/>
              <a:ext cx="1832911" cy="2285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Servicios en red</a:t>
              </a:r>
            </a:p>
          </p:txBody>
        </p:sp>
      </p:grpSp>
      <p:grpSp>
        <p:nvGrpSpPr>
          <p:cNvPr id="193" name="Rounded Rectangle 8"/>
          <p:cNvGrpSpPr/>
          <p:nvPr/>
        </p:nvGrpSpPr>
        <p:grpSpPr>
          <a:xfrm>
            <a:off x="611560" y="1342653"/>
            <a:ext cx="423665" cy="228512"/>
            <a:chOff x="0" y="0"/>
            <a:chExt cx="423664" cy="228510"/>
          </a:xfrm>
        </p:grpSpPr>
        <p:sp>
          <p:nvSpPr>
            <p:cNvPr id="191" name="Rounded Rectangle"/>
            <p:cNvSpPr/>
            <p:nvPr/>
          </p:nvSpPr>
          <p:spPr>
            <a:xfrm>
              <a:off x="0" y="46439"/>
              <a:ext cx="423665" cy="13563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92" name="1"/>
            <p:cNvSpPr txBox="1"/>
            <p:nvPr/>
          </p:nvSpPr>
          <p:spPr>
            <a:xfrm>
              <a:off x="52341" y="0"/>
              <a:ext cx="318982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96" name="Rounded Rectangle 9"/>
          <p:cNvGrpSpPr/>
          <p:nvPr/>
        </p:nvGrpSpPr>
        <p:grpSpPr>
          <a:xfrm>
            <a:off x="1115616" y="1345796"/>
            <a:ext cx="423665" cy="228512"/>
            <a:chOff x="0" y="0"/>
            <a:chExt cx="423664" cy="228510"/>
          </a:xfrm>
        </p:grpSpPr>
        <p:sp>
          <p:nvSpPr>
            <p:cNvPr id="194" name="Rounded Rectangle"/>
            <p:cNvSpPr/>
            <p:nvPr/>
          </p:nvSpPr>
          <p:spPr>
            <a:xfrm>
              <a:off x="0" y="46439"/>
              <a:ext cx="423665" cy="13563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95" name="2"/>
            <p:cNvSpPr txBox="1"/>
            <p:nvPr/>
          </p:nvSpPr>
          <p:spPr>
            <a:xfrm>
              <a:off x="52341" y="0"/>
              <a:ext cx="318982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99" name="Rounded Rectangle 10"/>
          <p:cNvGrpSpPr/>
          <p:nvPr/>
        </p:nvGrpSpPr>
        <p:grpSpPr>
          <a:xfrm>
            <a:off x="1629282" y="1346888"/>
            <a:ext cx="423665" cy="228512"/>
            <a:chOff x="0" y="0"/>
            <a:chExt cx="423664" cy="228510"/>
          </a:xfrm>
        </p:grpSpPr>
        <p:sp>
          <p:nvSpPr>
            <p:cNvPr id="197" name="Rounded Rectangle"/>
            <p:cNvSpPr/>
            <p:nvPr/>
          </p:nvSpPr>
          <p:spPr>
            <a:xfrm>
              <a:off x="0" y="46439"/>
              <a:ext cx="423665" cy="13563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98" name="3"/>
            <p:cNvSpPr txBox="1"/>
            <p:nvPr/>
          </p:nvSpPr>
          <p:spPr>
            <a:xfrm>
              <a:off x="52341" y="0"/>
              <a:ext cx="318982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202" name="Rounded Rectangle 11"/>
          <p:cNvGrpSpPr/>
          <p:nvPr/>
        </p:nvGrpSpPr>
        <p:grpSpPr>
          <a:xfrm>
            <a:off x="2133338" y="1350031"/>
            <a:ext cx="423665" cy="228512"/>
            <a:chOff x="0" y="0"/>
            <a:chExt cx="423664" cy="228510"/>
          </a:xfrm>
        </p:grpSpPr>
        <p:sp>
          <p:nvSpPr>
            <p:cNvPr id="200" name="Rounded Rectangle"/>
            <p:cNvSpPr/>
            <p:nvPr/>
          </p:nvSpPr>
          <p:spPr>
            <a:xfrm>
              <a:off x="0" y="46439"/>
              <a:ext cx="423665" cy="13563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01" name="4"/>
            <p:cNvSpPr txBox="1"/>
            <p:nvPr/>
          </p:nvSpPr>
          <p:spPr>
            <a:xfrm>
              <a:off x="52341" y="0"/>
              <a:ext cx="318982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205" name="Rounded Rectangle 12"/>
          <p:cNvGrpSpPr/>
          <p:nvPr/>
        </p:nvGrpSpPr>
        <p:grpSpPr>
          <a:xfrm>
            <a:off x="2672763" y="1353174"/>
            <a:ext cx="423666" cy="228512"/>
            <a:chOff x="0" y="0"/>
            <a:chExt cx="423664" cy="228510"/>
          </a:xfrm>
        </p:grpSpPr>
        <p:sp>
          <p:nvSpPr>
            <p:cNvPr id="203" name="Rounded Rectangle"/>
            <p:cNvSpPr/>
            <p:nvPr/>
          </p:nvSpPr>
          <p:spPr>
            <a:xfrm>
              <a:off x="0" y="46439"/>
              <a:ext cx="423665" cy="13563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04" name="5"/>
            <p:cNvSpPr txBox="1"/>
            <p:nvPr/>
          </p:nvSpPr>
          <p:spPr>
            <a:xfrm>
              <a:off x="52341" y="0"/>
              <a:ext cx="318982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208" name="Rounded Rectangle 13"/>
          <p:cNvGrpSpPr/>
          <p:nvPr/>
        </p:nvGrpSpPr>
        <p:grpSpPr>
          <a:xfrm>
            <a:off x="3186431" y="1348939"/>
            <a:ext cx="423665" cy="228512"/>
            <a:chOff x="0" y="0"/>
            <a:chExt cx="423664" cy="228510"/>
          </a:xfrm>
        </p:grpSpPr>
        <p:sp>
          <p:nvSpPr>
            <p:cNvPr id="206" name="Rounded Rectangle"/>
            <p:cNvSpPr/>
            <p:nvPr/>
          </p:nvSpPr>
          <p:spPr>
            <a:xfrm>
              <a:off x="0" y="46439"/>
              <a:ext cx="423665" cy="13563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07" name="6"/>
            <p:cNvSpPr txBox="1"/>
            <p:nvPr/>
          </p:nvSpPr>
          <p:spPr>
            <a:xfrm>
              <a:off x="52341" y="0"/>
              <a:ext cx="318982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211" name="Rounded Rectangle 14"/>
          <p:cNvGrpSpPr/>
          <p:nvPr/>
        </p:nvGrpSpPr>
        <p:grpSpPr>
          <a:xfrm>
            <a:off x="3696510" y="1355207"/>
            <a:ext cx="423665" cy="228512"/>
            <a:chOff x="0" y="0"/>
            <a:chExt cx="423664" cy="228510"/>
          </a:xfrm>
        </p:grpSpPr>
        <p:sp>
          <p:nvSpPr>
            <p:cNvPr id="209" name="Rounded Rectangle"/>
            <p:cNvSpPr/>
            <p:nvPr/>
          </p:nvSpPr>
          <p:spPr>
            <a:xfrm>
              <a:off x="0" y="46439"/>
              <a:ext cx="423665" cy="13563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10" name="7"/>
            <p:cNvSpPr txBox="1"/>
            <p:nvPr/>
          </p:nvSpPr>
          <p:spPr>
            <a:xfrm>
              <a:off x="52341" y="0"/>
              <a:ext cx="318982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214" name="Rounded Rectangle 15"/>
          <p:cNvGrpSpPr/>
          <p:nvPr/>
        </p:nvGrpSpPr>
        <p:grpSpPr>
          <a:xfrm>
            <a:off x="4200566" y="1358350"/>
            <a:ext cx="423665" cy="228512"/>
            <a:chOff x="0" y="0"/>
            <a:chExt cx="423664" cy="228510"/>
          </a:xfrm>
        </p:grpSpPr>
        <p:sp>
          <p:nvSpPr>
            <p:cNvPr id="212" name="Rounded Rectangle"/>
            <p:cNvSpPr/>
            <p:nvPr/>
          </p:nvSpPr>
          <p:spPr>
            <a:xfrm>
              <a:off x="0" y="46439"/>
              <a:ext cx="423665" cy="13563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13" name="8"/>
            <p:cNvSpPr txBox="1"/>
            <p:nvPr/>
          </p:nvSpPr>
          <p:spPr>
            <a:xfrm>
              <a:off x="52341" y="0"/>
              <a:ext cx="318982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217" name="Rounded Rectangle 16"/>
          <p:cNvGrpSpPr/>
          <p:nvPr/>
        </p:nvGrpSpPr>
        <p:grpSpPr>
          <a:xfrm>
            <a:off x="4704622" y="1359185"/>
            <a:ext cx="423665" cy="228512"/>
            <a:chOff x="0" y="0"/>
            <a:chExt cx="423664" cy="228510"/>
          </a:xfrm>
        </p:grpSpPr>
        <p:sp>
          <p:nvSpPr>
            <p:cNvPr id="215" name="Rounded Rectangle"/>
            <p:cNvSpPr/>
            <p:nvPr/>
          </p:nvSpPr>
          <p:spPr>
            <a:xfrm>
              <a:off x="0" y="46439"/>
              <a:ext cx="423665" cy="13563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16" name="9"/>
            <p:cNvSpPr txBox="1"/>
            <p:nvPr/>
          </p:nvSpPr>
          <p:spPr>
            <a:xfrm>
              <a:off x="52341" y="0"/>
              <a:ext cx="318982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220" name="Rounded Rectangle 17"/>
          <p:cNvGrpSpPr/>
          <p:nvPr/>
        </p:nvGrpSpPr>
        <p:grpSpPr>
          <a:xfrm>
            <a:off x="5208678" y="1362328"/>
            <a:ext cx="423665" cy="228512"/>
            <a:chOff x="0" y="0"/>
            <a:chExt cx="423664" cy="228510"/>
          </a:xfrm>
        </p:grpSpPr>
        <p:sp>
          <p:nvSpPr>
            <p:cNvPr id="218" name="Rounded Rectangle"/>
            <p:cNvSpPr/>
            <p:nvPr/>
          </p:nvSpPr>
          <p:spPr>
            <a:xfrm>
              <a:off x="0" y="46439"/>
              <a:ext cx="423665" cy="13563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19" name="10"/>
            <p:cNvSpPr txBox="1"/>
            <p:nvPr/>
          </p:nvSpPr>
          <p:spPr>
            <a:xfrm>
              <a:off x="52341" y="0"/>
              <a:ext cx="318982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10</a:t>
              </a:r>
            </a:p>
          </p:txBody>
        </p:sp>
      </p:grpSp>
      <p:grpSp>
        <p:nvGrpSpPr>
          <p:cNvPr id="223" name="Rounded Rectangle 18"/>
          <p:cNvGrpSpPr/>
          <p:nvPr/>
        </p:nvGrpSpPr>
        <p:grpSpPr>
          <a:xfrm>
            <a:off x="5722344" y="1363420"/>
            <a:ext cx="423665" cy="228512"/>
            <a:chOff x="0" y="0"/>
            <a:chExt cx="423664" cy="228510"/>
          </a:xfrm>
        </p:grpSpPr>
        <p:sp>
          <p:nvSpPr>
            <p:cNvPr id="221" name="Rounded Rectangle"/>
            <p:cNvSpPr/>
            <p:nvPr/>
          </p:nvSpPr>
          <p:spPr>
            <a:xfrm>
              <a:off x="0" y="46439"/>
              <a:ext cx="423665" cy="13563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22" name="11"/>
            <p:cNvSpPr txBox="1"/>
            <p:nvPr/>
          </p:nvSpPr>
          <p:spPr>
            <a:xfrm>
              <a:off x="52341" y="0"/>
              <a:ext cx="318982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11</a:t>
              </a:r>
            </a:p>
          </p:txBody>
        </p:sp>
      </p:grpSp>
      <p:grpSp>
        <p:nvGrpSpPr>
          <p:cNvPr id="226" name="Rounded Rectangle 19"/>
          <p:cNvGrpSpPr/>
          <p:nvPr/>
        </p:nvGrpSpPr>
        <p:grpSpPr>
          <a:xfrm>
            <a:off x="6226400" y="1366563"/>
            <a:ext cx="423665" cy="228512"/>
            <a:chOff x="0" y="0"/>
            <a:chExt cx="423664" cy="228510"/>
          </a:xfrm>
        </p:grpSpPr>
        <p:sp>
          <p:nvSpPr>
            <p:cNvPr id="224" name="Rounded Rectangle"/>
            <p:cNvSpPr/>
            <p:nvPr/>
          </p:nvSpPr>
          <p:spPr>
            <a:xfrm>
              <a:off x="0" y="46439"/>
              <a:ext cx="423665" cy="13563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25" name="12"/>
            <p:cNvSpPr txBox="1"/>
            <p:nvPr/>
          </p:nvSpPr>
          <p:spPr>
            <a:xfrm>
              <a:off x="52341" y="0"/>
              <a:ext cx="318982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12</a:t>
              </a:r>
            </a:p>
          </p:txBody>
        </p:sp>
      </p:grpSp>
      <p:grpSp>
        <p:nvGrpSpPr>
          <p:cNvPr id="229" name="Rounded Rectangle 20"/>
          <p:cNvGrpSpPr/>
          <p:nvPr/>
        </p:nvGrpSpPr>
        <p:grpSpPr>
          <a:xfrm>
            <a:off x="6775436" y="1362328"/>
            <a:ext cx="423665" cy="228512"/>
            <a:chOff x="0" y="0"/>
            <a:chExt cx="423664" cy="228510"/>
          </a:xfrm>
        </p:grpSpPr>
        <p:sp>
          <p:nvSpPr>
            <p:cNvPr id="227" name="Rounded Rectangle"/>
            <p:cNvSpPr/>
            <p:nvPr/>
          </p:nvSpPr>
          <p:spPr>
            <a:xfrm>
              <a:off x="0" y="46439"/>
              <a:ext cx="423665" cy="13563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28" name="13"/>
            <p:cNvSpPr txBox="1"/>
            <p:nvPr/>
          </p:nvSpPr>
          <p:spPr>
            <a:xfrm>
              <a:off x="52341" y="0"/>
              <a:ext cx="318982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13</a:t>
              </a:r>
            </a:p>
          </p:txBody>
        </p:sp>
      </p:grpSp>
      <p:grpSp>
        <p:nvGrpSpPr>
          <p:cNvPr id="232" name="Rounded Rectangle 21"/>
          <p:cNvGrpSpPr/>
          <p:nvPr/>
        </p:nvGrpSpPr>
        <p:grpSpPr>
          <a:xfrm>
            <a:off x="7279492" y="1365471"/>
            <a:ext cx="423665" cy="228512"/>
            <a:chOff x="0" y="0"/>
            <a:chExt cx="423664" cy="228510"/>
          </a:xfrm>
        </p:grpSpPr>
        <p:sp>
          <p:nvSpPr>
            <p:cNvPr id="230" name="Rounded Rectangle"/>
            <p:cNvSpPr/>
            <p:nvPr/>
          </p:nvSpPr>
          <p:spPr>
            <a:xfrm>
              <a:off x="0" y="46439"/>
              <a:ext cx="423665" cy="13563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31" name="14"/>
            <p:cNvSpPr txBox="1"/>
            <p:nvPr/>
          </p:nvSpPr>
          <p:spPr>
            <a:xfrm>
              <a:off x="52341" y="0"/>
              <a:ext cx="318982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14</a:t>
              </a:r>
            </a:p>
          </p:txBody>
        </p:sp>
      </p:grpSp>
      <p:grpSp>
        <p:nvGrpSpPr>
          <p:cNvPr id="235" name="Rounded Rectangle 22"/>
          <p:cNvGrpSpPr/>
          <p:nvPr/>
        </p:nvGrpSpPr>
        <p:grpSpPr>
          <a:xfrm>
            <a:off x="7793159" y="1366563"/>
            <a:ext cx="423665" cy="228512"/>
            <a:chOff x="0" y="0"/>
            <a:chExt cx="423664" cy="228510"/>
          </a:xfrm>
        </p:grpSpPr>
        <p:sp>
          <p:nvSpPr>
            <p:cNvPr id="233" name="Rounded Rectangle"/>
            <p:cNvSpPr/>
            <p:nvPr/>
          </p:nvSpPr>
          <p:spPr>
            <a:xfrm>
              <a:off x="0" y="46439"/>
              <a:ext cx="423665" cy="13563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34" name="15"/>
            <p:cNvSpPr txBox="1"/>
            <p:nvPr/>
          </p:nvSpPr>
          <p:spPr>
            <a:xfrm>
              <a:off x="52341" y="0"/>
              <a:ext cx="318982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15</a:t>
              </a:r>
            </a:p>
          </p:txBody>
        </p:sp>
      </p:grpSp>
      <p:grpSp>
        <p:nvGrpSpPr>
          <p:cNvPr id="238" name="Rounded Rectangle 23"/>
          <p:cNvGrpSpPr/>
          <p:nvPr/>
        </p:nvGrpSpPr>
        <p:grpSpPr>
          <a:xfrm>
            <a:off x="8300804" y="1364530"/>
            <a:ext cx="423665" cy="228512"/>
            <a:chOff x="0" y="0"/>
            <a:chExt cx="423664" cy="228510"/>
          </a:xfrm>
        </p:grpSpPr>
        <p:sp>
          <p:nvSpPr>
            <p:cNvPr id="236" name="Rounded Rectangle"/>
            <p:cNvSpPr/>
            <p:nvPr/>
          </p:nvSpPr>
          <p:spPr>
            <a:xfrm>
              <a:off x="0" y="46439"/>
              <a:ext cx="423665" cy="135633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37" name="16"/>
            <p:cNvSpPr txBox="1"/>
            <p:nvPr/>
          </p:nvSpPr>
          <p:spPr>
            <a:xfrm>
              <a:off x="52341" y="0"/>
              <a:ext cx="318982" cy="2285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16</a:t>
              </a:r>
            </a:p>
          </p:txBody>
        </p:sp>
      </p:grpSp>
      <p:grpSp>
        <p:nvGrpSpPr>
          <p:cNvPr id="241" name="Rounded Rectangle 6"/>
          <p:cNvGrpSpPr/>
          <p:nvPr/>
        </p:nvGrpSpPr>
        <p:grpSpPr>
          <a:xfrm>
            <a:off x="7279492" y="2931790"/>
            <a:ext cx="937333" cy="346691"/>
            <a:chOff x="0" y="0"/>
            <a:chExt cx="937332" cy="346690"/>
          </a:xfrm>
        </p:grpSpPr>
        <p:sp>
          <p:nvSpPr>
            <p:cNvPr id="239" name="Rounded Rectangle"/>
            <p:cNvSpPr/>
            <p:nvPr/>
          </p:nvSpPr>
          <p:spPr>
            <a:xfrm>
              <a:off x="0" y="0"/>
              <a:ext cx="937333" cy="34669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/>
              </a:pPr>
            </a:p>
          </p:txBody>
        </p:sp>
        <p:sp>
          <p:nvSpPr>
            <p:cNvPr id="240" name="Despliegue"/>
            <p:cNvSpPr txBox="1"/>
            <p:nvPr/>
          </p:nvSpPr>
          <p:spPr>
            <a:xfrm>
              <a:off x="62643" y="59089"/>
              <a:ext cx="812046" cy="2285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Despliegue</a:t>
              </a:r>
            </a:p>
          </p:txBody>
        </p:sp>
      </p:grpSp>
      <p:grpSp>
        <p:nvGrpSpPr>
          <p:cNvPr id="244" name="Rounded Rectangle 6"/>
          <p:cNvGrpSpPr/>
          <p:nvPr/>
        </p:nvGrpSpPr>
        <p:grpSpPr>
          <a:xfrm>
            <a:off x="611560" y="3510133"/>
            <a:ext cx="8112908" cy="346691"/>
            <a:chOff x="0" y="0"/>
            <a:chExt cx="8112907" cy="346690"/>
          </a:xfrm>
        </p:grpSpPr>
        <p:sp>
          <p:nvSpPr>
            <p:cNvPr id="242" name="Rounded Rectangle"/>
            <p:cNvSpPr/>
            <p:nvPr/>
          </p:nvSpPr>
          <p:spPr>
            <a:xfrm>
              <a:off x="0" y="0"/>
              <a:ext cx="8112908" cy="34669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/>
              </a:pPr>
            </a:p>
          </p:txBody>
        </p:sp>
        <p:sp>
          <p:nvSpPr>
            <p:cNvPr id="243" name="Gestión de proyectos"/>
            <p:cNvSpPr txBox="1"/>
            <p:nvPr/>
          </p:nvSpPr>
          <p:spPr>
            <a:xfrm>
              <a:off x="62643" y="59089"/>
              <a:ext cx="7987622" cy="2285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Gestión de proyectos</a:t>
              </a:r>
            </a:p>
          </p:txBody>
        </p:sp>
      </p:grpSp>
      <p:grpSp>
        <p:nvGrpSpPr>
          <p:cNvPr id="247" name="Elipse 42"/>
          <p:cNvGrpSpPr/>
          <p:nvPr/>
        </p:nvGrpSpPr>
        <p:grpSpPr>
          <a:xfrm>
            <a:off x="462919" y="1763066"/>
            <a:ext cx="360042" cy="360042"/>
            <a:chOff x="0" y="0"/>
            <a:chExt cx="360040" cy="360040"/>
          </a:xfrm>
        </p:grpSpPr>
        <p:sp>
          <p:nvSpPr>
            <p:cNvPr id="245" name="Circle"/>
            <p:cNvSpPr/>
            <p:nvPr/>
          </p:nvSpPr>
          <p:spPr>
            <a:xfrm>
              <a:off x="-1" y="-1"/>
              <a:ext cx="360042" cy="360042"/>
            </a:xfrm>
            <a:prstGeom prst="ellipse">
              <a:avLst/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246" name="1"/>
            <p:cNvSpPr txBox="1"/>
            <p:nvPr/>
          </p:nvSpPr>
          <p:spPr>
            <a:xfrm>
              <a:off x="98446" y="39620"/>
              <a:ext cx="16314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1</a:t>
              </a:r>
            </a:p>
          </p:txBody>
        </p:sp>
      </p:grpSp>
      <p:grpSp>
        <p:nvGrpSpPr>
          <p:cNvPr id="250" name="Rounded Rectangle 6"/>
          <p:cNvGrpSpPr/>
          <p:nvPr/>
        </p:nvGrpSpPr>
        <p:grpSpPr>
          <a:xfrm>
            <a:off x="2692888" y="1653149"/>
            <a:ext cx="6031581" cy="346691"/>
            <a:chOff x="0" y="0"/>
            <a:chExt cx="6031579" cy="346690"/>
          </a:xfrm>
        </p:grpSpPr>
        <p:sp>
          <p:nvSpPr>
            <p:cNvPr id="248" name="Rounded Rectangle"/>
            <p:cNvSpPr/>
            <p:nvPr/>
          </p:nvSpPr>
          <p:spPr>
            <a:xfrm>
              <a:off x="0" y="0"/>
              <a:ext cx="6031580" cy="34669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49" name="Rest API"/>
            <p:cNvSpPr txBox="1"/>
            <p:nvPr/>
          </p:nvSpPr>
          <p:spPr>
            <a:xfrm>
              <a:off x="62643" y="59089"/>
              <a:ext cx="5906293" cy="2285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Rest API</a:t>
              </a:r>
            </a:p>
          </p:txBody>
        </p:sp>
      </p:grpSp>
      <p:grpSp>
        <p:nvGrpSpPr>
          <p:cNvPr id="253" name="Elipse 46"/>
          <p:cNvGrpSpPr/>
          <p:nvPr/>
        </p:nvGrpSpPr>
        <p:grpSpPr>
          <a:xfrm>
            <a:off x="7099472" y="3095044"/>
            <a:ext cx="360041" cy="360042"/>
            <a:chOff x="0" y="0"/>
            <a:chExt cx="360040" cy="360040"/>
          </a:xfrm>
        </p:grpSpPr>
        <p:sp>
          <p:nvSpPr>
            <p:cNvPr id="251" name="Circle"/>
            <p:cNvSpPr/>
            <p:nvPr/>
          </p:nvSpPr>
          <p:spPr>
            <a:xfrm>
              <a:off x="-1" y="-1"/>
              <a:ext cx="360042" cy="360042"/>
            </a:xfrm>
            <a:prstGeom prst="ellipse">
              <a:avLst/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252" name="4"/>
            <p:cNvSpPr txBox="1"/>
            <p:nvPr/>
          </p:nvSpPr>
          <p:spPr>
            <a:xfrm>
              <a:off x="98446" y="39620"/>
              <a:ext cx="16314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4</a:t>
              </a:r>
            </a:p>
          </p:txBody>
        </p:sp>
      </p:grpSp>
      <p:grpSp>
        <p:nvGrpSpPr>
          <p:cNvPr id="256" name="Elipse 47"/>
          <p:cNvGrpSpPr/>
          <p:nvPr/>
        </p:nvGrpSpPr>
        <p:grpSpPr>
          <a:xfrm>
            <a:off x="488530" y="3633918"/>
            <a:ext cx="360041" cy="360041"/>
            <a:chOff x="0" y="0"/>
            <a:chExt cx="360040" cy="360040"/>
          </a:xfrm>
        </p:grpSpPr>
        <p:sp>
          <p:nvSpPr>
            <p:cNvPr id="254" name="Circle"/>
            <p:cNvSpPr/>
            <p:nvPr/>
          </p:nvSpPr>
          <p:spPr>
            <a:xfrm>
              <a:off x="-1" y="-1"/>
              <a:ext cx="360042" cy="360042"/>
            </a:xfrm>
            <a:prstGeom prst="ellipse">
              <a:avLst/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255" name="5"/>
            <p:cNvSpPr txBox="1"/>
            <p:nvPr/>
          </p:nvSpPr>
          <p:spPr>
            <a:xfrm>
              <a:off x="98446" y="39620"/>
              <a:ext cx="16314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5</a:t>
              </a:r>
            </a:p>
          </p:txBody>
        </p:sp>
      </p:grpSp>
      <p:grpSp>
        <p:nvGrpSpPr>
          <p:cNvPr id="259" name="Rounded Rectangle 6"/>
          <p:cNvGrpSpPr/>
          <p:nvPr/>
        </p:nvGrpSpPr>
        <p:grpSpPr>
          <a:xfrm>
            <a:off x="4704622" y="2067693"/>
            <a:ext cx="4019846" cy="346691"/>
            <a:chOff x="0" y="0"/>
            <a:chExt cx="4019844" cy="346690"/>
          </a:xfrm>
        </p:grpSpPr>
        <p:sp>
          <p:nvSpPr>
            <p:cNvPr id="257" name="Rounded Rectangle"/>
            <p:cNvSpPr/>
            <p:nvPr/>
          </p:nvSpPr>
          <p:spPr>
            <a:xfrm>
              <a:off x="0" y="0"/>
              <a:ext cx="4019845" cy="34669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/>
              </a:pPr>
            </a:p>
          </p:txBody>
        </p:sp>
        <p:sp>
          <p:nvSpPr>
            <p:cNvPr id="258" name="Base de datos"/>
            <p:cNvSpPr txBox="1"/>
            <p:nvPr/>
          </p:nvSpPr>
          <p:spPr>
            <a:xfrm>
              <a:off x="62643" y="59089"/>
              <a:ext cx="3894559" cy="2285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Base de datos</a:t>
              </a:r>
            </a:p>
          </p:txBody>
        </p:sp>
      </p:grpSp>
      <p:sp>
        <p:nvSpPr>
          <p:cNvPr id="260" name="Elipse 44"/>
          <p:cNvSpPr/>
          <p:nvPr/>
        </p:nvSpPr>
        <p:spPr>
          <a:xfrm>
            <a:off x="4524602" y="2200291"/>
            <a:ext cx="360041" cy="360041"/>
          </a:xfrm>
          <a:prstGeom prst="ellipse">
            <a:avLst/>
          </a:pr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261" name="Rectángulo 2"/>
          <p:cNvSpPr txBox="1"/>
          <p:nvPr/>
        </p:nvSpPr>
        <p:spPr>
          <a:xfrm>
            <a:off x="4603109" y="2222129"/>
            <a:ext cx="203025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grpSp>
        <p:nvGrpSpPr>
          <p:cNvPr id="264" name="Rounded Rectangle 6"/>
          <p:cNvGrpSpPr/>
          <p:nvPr/>
        </p:nvGrpSpPr>
        <p:grpSpPr>
          <a:xfrm>
            <a:off x="5722344" y="2499741"/>
            <a:ext cx="3002124" cy="346691"/>
            <a:chOff x="0" y="0"/>
            <a:chExt cx="3002122" cy="346690"/>
          </a:xfrm>
        </p:grpSpPr>
        <p:sp>
          <p:nvSpPr>
            <p:cNvPr id="262" name="Rounded Rectangle"/>
            <p:cNvSpPr/>
            <p:nvPr/>
          </p:nvSpPr>
          <p:spPr>
            <a:xfrm>
              <a:off x="0" y="0"/>
              <a:ext cx="3002123" cy="34669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63" name="Consumo de servicios REST"/>
            <p:cNvSpPr txBox="1"/>
            <p:nvPr/>
          </p:nvSpPr>
          <p:spPr>
            <a:xfrm>
              <a:off x="62643" y="59089"/>
              <a:ext cx="2876837" cy="22851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1000"/>
              </a:lvl1pPr>
            </a:lstStyle>
            <a:p>
              <a:pPr/>
              <a:r>
                <a:t>Consumo de servicios REST</a:t>
              </a:r>
            </a:p>
          </p:txBody>
        </p:sp>
      </p:grpSp>
      <p:sp>
        <p:nvSpPr>
          <p:cNvPr id="265" name="Elipse 44"/>
          <p:cNvSpPr/>
          <p:nvPr/>
        </p:nvSpPr>
        <p:spPr>
          <a:xfrm>
            <a:off x="5542324" y="2656113"/>
            <a:ext cx="360041" cy="360041"/>
          </a:xfrm>
          <a:prstGeom prst="ellipse">
            <a:avLst/>
          </a:pr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266" name="Rectángulo 2"/>
          <p:cNvSpPr txBox="1"/>
          <p:nvPr/>
        </p:nvSpPr>
        <p:spPr>
          <a:xfrm>
            <a:off x="5620833" y="2677951"/>
            <a:ext cx="203025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itle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Fases del proyecto integrador</a:t>
            </a:r>
          </a:p>
        </p:txBody>
      </p:sp>
      <p:pic>
        <p:nvPicPr>
          <p:cNvPr id="26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87624" y="1284733"/>
            <a:ext cx="6606480" cy="3303241"/>
          </a:xfrm>
          <a:prstGeom prst="rect">
            <a:avLst/>
          </a:prstGeom>
          <a:ln w="12700">
            <a:miter lim="400000"/>
          </a:ln>
        </p:spPr>
      </p:pic>
      <p:sp>
        <p:nvSpPr>
          <p:cNvPr id="270" name="Rectangle 2"/>
          <p:cNvSpPr/>
          <p:nvPr/>
        </p:nvSpPr>
        <p:spPr>
          <a:xfrm>
            <a:off x="7753470" y="1284733"/>
            <a:ext cx="1403649" cy="3303241"/>
          </a:xfrm>
          <a:prstGeom prst="rect">
            <a:avLst/>
          </a:pr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71" name="Rectangle 22"/>
          <p:cNvSpPr/>
          <p:nvPr/>
        </p:nvSpPr>
        <p:spPr>
          <a:xfrm>
            <a:off x="-1" y="1284733"/>
            <a:ext cx="1187626" cy="3303241"/>
          </a:xfrm>
          <a:prstGeom prst="rect">
            <a:avLst/>
          </a:pr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72" name="Rectangle 23"/>
          <p:cNvSpPr/>
          <p:nvPr/>
        </p:nvSpPr>
        <p:spPr>
          <a:xfrm>
            <a:off x="0" y="4587973"/>
            <a:ext cx="9157118" cy="216025"/>
          </a:xfrm>
          <a:prstGeom prst="rect">
            <a:avLst/>
          </a:prstGeom>
          <a:solidFill>
            <a:schemeClr val="accent1">
              <a:lumOff val="44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05893" y="1779702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275" name="TextBox 4"/>
          <p:cNvSpPr txBox="1"/>
          <p:nvPr/>
        </p:nvSpPr>
        <p:spPr>
          <a:xfrm>
            <a:off x="7569355" y="2550198"/>
            <a:ext cx="1193076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Database</a:t>
            </a:r>
          </a:p>
        </p:txBody>
      </p:sp>
      <p:pic>
        <p:nvPicPr>
          <p:cNvPr id="276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80973" y="1617063"/>
            <a:ext cx="720001" cy="589219"/>
          </a:xfrm>
          <a:prstGeom prst="rect">
            <a:avLst/>
          </a:prstGeom>
          <a:ln w="12700">
            <a:miter lim="400000"/>
          </a:ln>
        </p:spPr>
      </p:pic>
      <p:sp>
        <p:nvSpPr>
          <p:cNvPr id="277" name="Straight Connector 6"/>
          <p:cNvSpPr/>
          <p:nvPr/>
        </p:nvSpPr>
        <p:spPr>
          <a:xfrm>
            <a:off x="3275855" y="4371949"/>
            <a:ext cx="5631544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78" name="TextBox 7"/>
          <p:cNvSpPr txBox="1"/>
          <p:nvPr/>
        </p:nvSpPr>
        <p:spPr>
          <a:xfrm>
            <a:off x="5398230" y="4435078"/>
            <a:ext cx="1913574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BACKEND</a:t>
            </a:r>
          </a:p>
        </p:txBody>
      </p:sp>
      <p:pic>
        <p:nvPicPr>
          <p:cNvPr id="279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352510" y="1574288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TextBox 9"/>
          <p:cNvSpPr txBox="1"/>
          <p:nvPr/>
        </p:nvSpPr>
        <p:spPr>
          <a:xfrm>
            <a:off x="3504808" y="2300545"/>
            <a:ext cx="1193076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Interfaz</a:t>
            </a:r>
          </a:p>
        </p:txBody>
      </p:sp>
      <p:sp>
        <p:nvSpPr>
          <p:cNvPr id="281" name="TextBox 10"/>
          <p:cNvSpPr txBox="1"/>
          <p:nvPr/>
        </p:nvSpPr>
        <p:spPr>
          <a:xfrm>
            <a:off x="4789323" y="2310907"/>
            <a:ext cx="15533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Lógica y reglas</a:t>
            </a:r>
          </a:p>
        </p:txBody>
      </p:sp>
      <p:sp>
        <p:nvSpPr>
          <p:cNvPr id="282" name="Straight Arrow Connector 11"/>
          <p:cNvSpPr/>
          <p:nvPr/>
        </p:nvSpPr>
        <p:spPr>
          <a:xfrm>
            <a:off x="6683230" y="2139701"/>
            <a:ext cx="1126138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83" name="TextBox 13"/>
          <p:cNvSpPr txBox="1"/>
          <p:nvPr/>
        </p:nvSpPr>
        <p:spPr>
          <a:xfrm>
            <a:off x="6969767" y="1820866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TCP</a:t>
            </a:r>
          </a:p>
        </p:txBody>
      </p:sp>
      <p:sp>
        <p:nvSpPr>
          <p:cNvPr id="284" name="Rectangle 14"/>
          <p:cNvSpPr/>
          <p:nvPr/>
        </p:nvSpPr>
        <p:spPr>
          <a:xfrm>
            <a:off x="3322666" y="1479321"/>
            <a:ext cx="3360566" cy="1309963"/>
          </a:xfrm>
          <a:prstGeom prst="rect">
            <a:avLst/>
          </a:prstGeom>
          <a:ln w="15875">
            <a:solidFill>
              <a:schemeClr val="accent1">
                <a:lumOff val="44000"/>
              </a:schemeClr>
            </a:solidFill>
            <a:prstDash val="lgDash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pic>
        <p:nvPicPr>
          <p:cNvPr id="285" name="Picture 10" descr="Picture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99591" y="1453965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286" name="TextBox 16"/>
          <p:cNvSpPr txBox="1"/>
          <p:nvPr/>
        </p:nvSpPr>
        <p:spPr>
          <a:xfrm>
            <a:off x="95976" y="2243296"/>
            <a:ext cx="2327233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Hardware</a:t>
            </a:r>
          </a:p>
        </p:txBody>
      </p:sp>
      <p:sp>
        <p:nvSpPr>
          <p:cNvPr id="287" name="Elbow Connector 17"/>
          <p:cNvSpPr/>
          <p:nvPr/>
        </p:nvSpPr>
        <p:spPr>
          <a:xfrm>
            <a:off x="1619592" y="1813965"/>
            <a:ext cx="1703074" cy="1915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88" name="TextBox 18"/>
          <p:cNvSpPr txBox="1"/>
          <p:nvPr/>
        </p:nvSpPr>
        <p:spPr>
          <a:xfrm>
            <a:off x="1895552" y="1485039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HTTP</a:t>
            </a:r>
          </a:p>
        </p:txBody>
      </p:sp>
      <p:pic>
        <p:nvPicPr>
          <p:cNvPr id="289" name="Picture 12" descr="Picture 1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92739" y="3230677"/>
            <a:ext cx="740242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TextBox 20"/>
          <p:cNvSpPr txBox="1"/>
          <p:nvPr/>
        </p:nvSpPr>
        <p:spPr>
          <a:xfrm>
            <a:off x="83209" y="3994339"/>
            <a:ext cx="2327233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Front web</a:t>
            </a:r>
          </a:p>
        </p:txBody>
      </p:sp>
      <p:sp>
        <p:nvSpPr>
          <p:cNvPr id="291" name="Elbow Connector 21"/>
          <p:cNvSpPr/>
          <p:nvPr/>
        </p:nvSpPr>
        <p:spPr>
          <a:xfrm flipV="1">
            <a:off x="1632980" y="2440777"/>
            <a:ext cx="1676352" cy="1149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92" name="TextBox 22"/>
          <p:cNvSpPr txBox="1"/>
          <p:nvPr/>
        </p:nvSpPr>
        <p:spPr>
          <a:xfrm>
            <a:off x="1895552" y="3562782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HTTP</a:t>
            </a:r>
          </a:p>
        </p:txBody>
      </p:sp>
      <p:sp>
        <p:nvSpPr>
          <p:cNvPr id="293" name="Straight Connector 23"/>
          <p:cNvSpPr/>
          <p:nvPr/>
        </p:nvSpPr>
        <p:spPr>
          <a:xfrm>
            <a:off x="107503" y="4367360"/>
            <a:ext cx="2952329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94" name="TextBox 24"/>
          <p:cNvSpPr txBox="1"/>
          <p:nvPr/>
        </p:nvSpPr>
        <p:spPr>
          <a:xfrm>
            <a:off x="521789" y="4419582"/>
            <a:ext cx="191357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295" name="Title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Vista preliminar el proyecto integrador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05893" y="1779702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TextBox 4"/>
          <p:cNvSpPr txBox="1"/>
          <p:nvPr/>
        </p:nvSpPr>
        <p:spPr>
          <a:xfrm>
            <a:off x="7569355" y="2550198"/>
            <a:ext cx="1193076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Database</a:t>
            </a:r>
          </a:p>
        </p:txBody>
      </p:sp>
      <p:pic>
        <p:nvPicPr>
          <p:cNvPr id="299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80973" y="1617063"/>
            <a:ext cx="720001" cy="589219"/>
          </a:xfrm>
          <a:prstGeom prst="rect">
            <a:avLst/>
          </a:prstGeom>
          <a:ln w="12700">
            <a:miter lim="400000"/>
          </a:ln>
        </p:spPr>
      </p:pic>
      <p:sp>
        <p:nvSpPr>
          <p:cNvPr id="300" name="Straight Connector 6"/>
          <p:cNvSpPr/>
          <p:nvPr/>
        </p:nvSpPr>
        <p:spPr>
          <a:xfrm>
            <a:off x="3275855" y="4371949"/>
            <a:ext cx="5631544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301" name="TextBox 7"/>
          <p:cNvSpPr txBox="1"/>
          <p:nvPr/>
        </p:nvSpPr>
        <p:spPr>
          <a:xfrm>
            <a:off x="5398230" y="4435078"/>
            <a:ext cx="1913574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BACKEND</a:t>
            </a:r>
          </a:p>
        </p:txBody>
      </p:sp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352510" y="1574288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03" name="TextBox 9"/>
          <p:cNvSpPr txBox="1"/>
          <p:nvPr/>
        </p:nvSpPr>
        <p:spPr>
          <a:xfrm>
            <a:off x="3504808" y="2300545"/>
            <a:ext cx="1193076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Interfaz</a:t>
            </a:r>
          </a:p>
        </p:txBody>
      </p:sp>
      <p:sp>
        <p:nvSpPr>
          <p:cNvPr id="304" name="TextBox 10"/>
          <p:cNvSpPr txBox="1"/>
          <p:nvPr/>
        </p:nvSpPr>
        <p:spPr>
          <a:xfrm>
            <a:off x="4789323" y="2310907"/>
            <a:ext cx="15533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Lógica y reglas</a:t>
            </a:r>
          </a:p>
        </p:txBody>
      </p:sp>
      <p:sp>
        <p:nvSpPr>
          <p:cNvPr id="305" name="Straight Arrow Connector 11"/>
          <p:cNvSpPr/>
          <p:nvPr/>
        </p:nvSpPr>
        <p:spPr>
          <a:xfrm>
            <a:off x="6683230" y="2139701"/>
            <a:ext cx="1126138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306" name="TextBox 13"/>
          <p:cNvSpPr txBox="1"/>
          <p:nvPr/>
        </p:nvSpPr>
        <p:spPr>
          <a:xfrm>
            <a:off x="6969767" y="1820866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TCP</a:t>
            </a:r>
          </a:p>
        </p:txBody>
      </p:sp>
      <p:sp>
        <p:nvSpPr>
          <p:cNvPr id="307" name="Rectangle 14"/>
          <p:cNvSpPr/>
          <p:nvPr/>
        </p:nvSpPr>
        <p:spPr>
          <a:xfrm>
            <a:off x="3322666" y="1479321"/>
            <a:ext cx="3360566" cy="1309963"/>
          </a:xfrm>
          <a:prstGeom prst="rect">
            <a:avLst/>
          </a:prstGeom>
          <a:ln w="15875">
            <a:solidFill>
              <a:schemeClr val="accent1">
                <a:lumOff val="44000"/>
              </a:schemeClr>
            </a:solidFill>
            <a:prstDash val="lgDash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pic>
        <p:nvPicPr>
          <p:cNvPr id="308" name="Picture 10" descr="Picture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99591" y="1453965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Elbow Connector 17"/>
          <p:cNvSpPr/>
          <p:nvPr/>
        </p:nvSpPr>
        <p:spPr>
          <a:xfrm>
            <a:off x="1619592" y="1813965"/>
            <a:ext cx="1703074" cy="1915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10" name="TextBox 18"/>
          <p:cNvSpPr txBox="1"/>
          <p:nvPr/>
        </p:nvSpPr>
        <p:spPr>
          <a:xfrm>
            <a:off x="1895552" y="1485039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HTTP</a:t>
            </a:r>
          </a:p>
        </p:txBody>
      </p:sp>
      <p:pic>
        <p:nvPicPr>
          <p:cNvPr id="311" name="Picture 12" descr="Picture 1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92739" y="3230677"/>
            <a:ext cx="740242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12" name="Elbow Connector 21"/>
          <p:cNvSpPr/>
          <p:nvPr/>
        </p:nvSpPr>
        <p:spPr>
          <a:xfrm flipV="1">
            <a:off x="1632980" y="2440777"/>
            <a:ext cx="1676352" cy="1149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13" name="TextBox 22"/>
          <p:cNvSpPr txBox="1"/>
          <p:nvPr/>
        </p:nvSpPr>
        <p:spPr>
          <a:xfrm>
            <a:off x="1895552" y="3562782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HTTP</a:t>
            </a:r>
          </a:p>
        </p:txBody>
      </p:sp>
      <p:sp>
        <p:nvSpPr>
          <p:cNvPr id="314" name="Straight Connector 23"/>
          <p:cNvSpPr/>
          <p:nvPr/>
        </p:nvSpPr>
        <p:spPr>
          <a:xfrm>
            <a:off x="107503" y="4367360"/>
            <a:ext cx="2952329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315" name="TextBox 24"/>
          <p:cNvSpPr txBox="1"/>
          <p:nvPr/>
        </p:nvSpPr>
        <p:spPr>
          <a:xfrm>
            <a:off x="521789" y="4419582"/>
            <a:ext cx="191357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316" name="Title 1"/>
          <p:cNvSpPr txBox="1"/>
          <p:nvPr>
            <p:ph type="title"/>
          </p:nvPr>
        </p:nvSpPr>
        <p:spPr>
          <a:xfrm>
            <a:off x="107503" y="214952"/>
            <a:ext cx="8928994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Sistema de monitoreo de variables ambientales para hacer seguimiento de cultivos</a:t>
            </a:r>
          </a:p>
        </p:txBody>
      </p:sp>
      <p:sp>
        <p:nvSpPr>
          <p:cNvPr id="317" name="TextBox 1"/>
          <p:cNvSpPr txBox="1"/>
          <p:nvPr/>
        </p:nvSpPr>
        <p:spPr>
          <a:xfrm>
            <a:off x="369059" y="2202418"/>
            <a:ext cx="1787600" cy="898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Sistema de medición: temperatura, humedas, PH, etc</a:t>
            </a:r>
          </a:p>
        </p:txBody>
      </p:sp>
      <p:sp>
        <p:nvSpPr>
          <p:cNvPr id="318" name="TextBox 2"/>
          <p:cNvSpPr txBox="1"/>
          <p:nvPr/>
        </p:nvSpPr>
        <p:spPr>
          <a:xfrm>
            <a:off x="153223" y="4002899"/>
            <a:ext cx="261979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Dashboard con informes diarios</a:t>
            </a:r>
          </a:p>
        </p:txBody>
      </p:sp>
      <p:pic>
        <p:nvPicPr>
          <p:cNvPr id="319" name="Picture 4" descr="Picture 4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621401" y="2836783"/>
            <a:ext cx="2608966" cy="14675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05893" y="1779702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22" name="TextBox 4"/>
          <p:cNvSpPr txBox="1"/>
          <p:nvPr/>
        </p:nvSpPr>
        <p:spPr>
          <a:xfrm>
            <a:off x="7569355" y="2550198"/>
            <a:ext cx="1193076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Database</a:t>
            </a:r>
          </a:p>
        </p:txBody>
      </p:sp>
      <p:pic>
        <p:nvPicPr>
          <p:cNvPr id="323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80973" y="1617063"/>
            <a:ext cx="720001" cy="589219"/>
          </a:xfrm>
          <a:prstGeom prst="rect">
            <a:avLst/>
          </a:prstGeom>
          <a:ln w="12700">
            <a:miter lim="400000"/>
          </a:ln>
        </p:spPr>
      </p:pic>
      <p:sp>
        <p:nvSpPr>
          <p:cNvPr id="324" name="Straight Connector 6"/>
          <p:cNvSpPr/>
          <p:nvPr/>
        </p:nvSpPr>
        <p:spPr>
          <a:xfrm>
            <a:off x="3275855" y="4371949"/>
            <a:ext cx="5631544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325" name="TextBox 7"/>
          <p:cNvSpPr txBox="1"/>
          <p:nvPr/>
        </p:nvSpPr>
        <p:spPr>
          <a:xfrm>
            <a:off x="5398230" y="4435078"/>
            <a:ext cx="1913574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BACKEND</a:t>
            </a:r>
          </a:p>
        </p:txBody>
      </p:sp>
      <p:pic>
        <p:nvPicPr>
          <p:cNvPr id="326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352510" y="1574288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27" name="TextBox 9"/>
          <p:cNvSpPr txBox="1"/>
          <p:nvPr/>
        </p:nvSpPr>
        <p:spPr>
          <a:xfrm>
            <a:off x="3504808" y="2300545"/>
            <a:ext cx="1193076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Interfaz</a:t>
            </a:r>
          </a:p>
        </p:txBody>
      </p:sp>
      <p:sp>
        <p:nvSpPr>
          <p:cNvPr id="328" name="TextBox 10"/>
          <p:cNvSpPr txBox="1"/>
          <p:nvPr/>
        </p:nvSpPr>
        <p:spPr>
          <a:xfrm>
            <a:off x="4789323" y="2310907"/>
            <a:ext cx="15533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Lógica y reglas</a:t>
            </a:r>
          </a:p>
        </p:txBody>
      </p:sp>
      <p:sp>
        <p:nvSpPr>
          <p:cNvPr id="329" name="Straight Arrow Connector 11"/>
          <p:cNvSpPr/>
          <p:nvPr/>
        </p:nvSpPr>
        <p:spPr>
          <a:xfrm>
            <a:off x="6683230" y="2139701"/>
            <a:ext cx="1126138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330" name="TextBox 13"/>
          <p:cNvSpPr txBox="1"/>
          <p:nvPr/>
        </p:nvSpPr>
        <p:spPr>
          <a:xfrm>
            <a:off x="6969767" y="1820866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TCP</a:t>
            </a:r>
          </a:p>
        </p:txBody>
      </p:sp>
      <p:sp>
        <p:nvSpPr>
          <p:cNvPr id="331" name="Rectangle 14"/>
          <p:cNvSpPr/>
          <p:nvPr/>
        </p:nvSpPr>
        <p:spPr>
          <a:xfrm>
            <a:off x="3322666" y="1479321"/>
            <a:ext cx="3360566" cy="1309963"/>
          </a:xfrm>
          <a:prstGeom prst="rect">
            <a:avLst/>
          </a:prstGeom>
          <a:ln w="15875">
            <a:solidFill>
              <a:schemeClr val="accent1">
                <a:lumOff val="44000"/>
              </a:schemeClr>
            </a:solidFill>
            <a:prstDash val="lgDash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pic>
        <p:nvPicPr>
          <p:cNvPr id="332" name="Picture 10" descr="Picture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99591" y="1453965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33" name="Elbow Connector 17"/>
          <p:cNvSpPr/>
          <p:nvPr/>
        </p:nvSpPr>
        <p:spPr>
          <a:xfrm>
            <a:off x="1619592" y="1813965"/>
            <a:ext cx="1703074" cy="1915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34" name="TextBox 18"/>
          <p:cNvSpPr txBox="1"/>
          <p:nvPr/>
        </p:nvSpPr>
        <p:spPr>
          <a:xfrm>
            <a:off x="1895552" y="1485039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HTTP</a:t>
            </a:r>
          </a:p>
        </p:txBody>
      </p:sp>
      <p:pic>
        <p:nvPicPr>
          <p:cNvPr id="335" name="Picture 12" descr="Picture 1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92739" y="3230677"/>
            <a:ext cx="740242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Elbow Connector 21"/>
          <p:cNvSpPr/>
          <p:nvPr/>
        </p:nvSpPr>
        <p:spPr>
          <a:xfrm flipV="1">
            <a:off x="1632980" y="2440777"/>
            <a:ext cx="1676352" cy="1149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37" name="TextBox 22"/>
          <p:cNvSpPr txBox="1"/>
          <p:nvPr/>
        </p:nvSpPr>
        <p:spPr>
          <a:xfrm>
            <a:off x="1895552" y="3562782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HTTP</a:t>
            </a:r>
          </a:p>
        </p:txBody>
      </p:sp>
      <p:sp>
        <p:nvSpPr>
          <p:cNvPr id="338" name="Straight Connector 23"/>
          <p:cNvSpPr/>
          <p:nvPr/>
        </p:nvSpPr>
        <p:spPr>
          <a:xfrm>
            <a:off x="107503" y="4367360"/>
            <a:ext cx="2952329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339" name="TextBox 24"/>
          <p:cNvSpPr txBox="1"/>
          <p:nvPr/>
        </p:nvSpPr>
        <p:spPr>
          <a:xfrm>
            <a:off x="521789" y="4419582"/>
            <a:ext cx="191357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340" name="Title 1"/>
          <p:cNvSpPr txBox="1"/>
          <p:nvPr>
            <p:ph type="title"/>
          </p:nvPr>
        </p:nvSpPr>
        <p:spPr>
          <a:xfrm>
            <a:off x="107503" y="214952"/>
            <a:ext cx="8928994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Sistema de registro de suscripciones a gimnasios para permitir el ingreso automático</a:t>
            </a:r>
          </a:p>
        </p:txBody>
      </p:sp>
      <p:pic>
        <p:nvPicPr>
          <p:cNvPr id="341" name="Picture 2" descr="Picture 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834303" y="2844377"/>
            <a:ext cx="2238209" cy="149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42" name="TextBox 2"/>
          <p:cNvSpPr txBox="1"/>
          <p:nvPr/>
        </p:nvSpPr>
        <p:spPr>
          <a:xfrm>
            <a:off x="187003" y="2202418"/>
            <a:ext cx="2191023" cy="695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Cerradura electrónica con un sistema de identificación de cliente</a:t>
            </a:r>
          </a:p>
        </p:txBody>
      </p:sp>
      <p:sp>
        <p:nvSpPr>
          <p:cNvPr id="343" name="TextBox 12"/>
          <p:cNvSpPr txBox="1"/>
          <p:nvPr/>
        </p:nvSpPr>
        <p:spPr>
          <a:xfrm>
            <a:off x="39058" y="4025922"/>
            <a:ext cx="3017234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Sistema de gestión de suscripciones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05893" y="1779702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46" name="TextBox 4"/>
          <p:cNvSpPr txBox="1"/>
          <p:nvPr/>
        </p:nvSpPr>
        <p:spPr>
          <a:xfrm>
            <a:off x="7569355" y="2550198"/>
            <a:ext cx="1193076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Database</a:t>
            </a:r>
          </a:p>
        </p:txBody>
      </p:sp>
      <p:pic>
        <p:nvPicPr>
          <p:cNvPr id="347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80973" y="1617063"/>
            <a:ext cx="720001" cy="589219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Straight Connector 6"/>
          <p:cNvSpPr/>
          <p:nvPr/>
        </p:nvSpPr>
        <p:spPr>
          <a:xfrm>
            <a:off x="3275855" y="4371949"/>
            <a:ext cx="5631544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349" name="TextBox 7"/>
          <p:cNvSpPr txBox="1"/>
          <p:nvPr/>
        </p:nvSpPr>
        <p:spPr>
          <a:xfrm>
            <a:off x="5398230" y="4435078"/>
            <a:ext cx="1913574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BACKEND</a:t>
            </a:r>
          </a:p>
        </p:txBody>
      </p:sp>
      <p:pic>
        <p:nvPicPr>
          <p:cNvPr id="350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352510" y="1574288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51" name="TextBox 9"/>
          <p:cNvSpPr txBox="1"/>
          <p:nvPr/>
        </p:nvSpPr>
        <p:spPr>
          <a:xfrm>
            <a:off x="3504808" y="2300545"/>
            <a:ext cx="1193076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Interfaz</a:t>
            </a:r>
          </a:p>
        </p:txBody>
      </p:sp>
      <p:sp>
        <p:nvSpPr>
          <p:cNvPr id="352" name="TextBox 10"/>
          <p:cNvSpPr txBox="1"/>
          <p:nvPr/>
        </p:nvSpPr>
        <p:spPr>
          <a:xfrm>
            <a:off x="4789323" y="2310907"/>
            <a:ext cx="15533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Lógica y reglas</a:t>
            </a:r>
          </a:p>
        </p:txBody>
      </p:sp>
      <p:sp>
        <p:nvSpPr>
          <p:cNvPr id="353" name="Straight Arrow Connector 11"/>
          <p:cNvSpPr/>
          <p:nvPr/>
        </p:nvSpPr>
        <p:spPr>
          <a:xfrm>
            <a:off x="6683230" y="2139701"/>
            <a:ext cx="1126138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354" name="TextBox 13"/>
          <p:cNvSpPr txBox="1"/>
          <p:nvPr/>
        </p:nvSpPr>
        <p:spPr>
          <a:xfrm>
            <a:off x="6969767" y="1820866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TCP</a:t>
            </a:r>
          </a:p>
        </p:txBody>
      </p:sp>
      <p:sp>
        <p:nvSpPr>
          <p:cNvPr id="355" name="Rectangle 14"/>
          <p:cNvSpPr/>
          <p:nvPr/>
        </p:nvSpPr>
        <p:spPr>
          <a:xfrm>
            <a:off x="3322666" y="1479321"/>
            <a:ext cx="3360566" cy="1309963"/>
          </a:xfrm>
          <a:prstGeom prst="rect">
            <a:avLst/>
          </a:prstGeom>
          <a:ln w="15875">
            <a:solidFill>
              <a:schemeClr val="accent1">
                <a:lumOff val="44000"/>
              </a:schemeClr>
            </a:solidFill>
            <a:prstDash val="lgDash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pic>
        <p:nvPicPr>
          <p:cNvPr id="356" name="Picture 10" descr="Picture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99591" y="1453965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57" name="Elbow Connector 17"/>
          <p:cNvSpPr/>
          <p:nvPr/>
        </p:nvSpPr>
        <p:spPr>
          <a:xfrm>
            <a:off x="1619592" y="1813965"/>
            <a:ext cx="1703074" cy="1915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58" name="TextBox 18"/>
          <p:cNvSpPr txBox="1"/>
          <p:nvPr/>
        </p:nvSpPr>
        <p:spPr>
          <a:xfrm>
            <a:off x="1895552" y="1485039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HTTP</a:t>
            </a:r>
          </a:p>
        </p:txBody>
      </p:sp>
      <p:pic>
        <p:nvPicPr>
          <p:cNvPr id="359" name="Picture 12" descr="Picture 1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92739" y="3230677"/>
            <a:ext cx="740242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60" name="TextBox 20"/>
          <p:cNvSpPr txBox="1"/>
          <p:nvPr/>
        </p:nvSpPr>
        <p:spPr>
          <a:xfrm>
            <a:off x="42236" y="4007360"/>
            <a:ext cx="3082863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Página de solicitud de reservas</a:t>
            </a:r>
          </a:p>
        </p:txBody>
      </p:sp>
      <p:sp>
        <p:nvSpPr>
          <p:cNvPr id="361" name="Elbow Connector 21"/>
          <p:cNvSpPr/>
          <p:nvPr/>
        </p:nvSpPr>
        <p:spPr>
          <a:xfrm flipV="1">
            <a:off x="1632980" y="2440777"/>
            <a:ext cx="1676352" cy="1149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62" name="TextBox 22"/>
          <p:cNvSpPr txBox="1"/>
          <p:nvPr/>
        </p:nvSpPr>
        <p:spPr>
          <a:xfrm>
            <a:off x="1895552" y="3562782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HTTP</a:t>
            </a:r>
          </a:p>
        </p:txBody>
      </p:sp>
      <p:sp>
        <p:nvSpPr>
          <p:cNvPr id="363" name="Straight Connector 23"/>
          <p:cNvSpPr/>
          <p:nvPr/>
        </p:nvSpPr>
        <p:spPr>
          <a:xfrm>
            <a:off x="107503" y="4367360"/>
            <a:ext cx="2952329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364" name="TextBox 24"/>
          <p:cNvSpPr txBox="1"/>
          <p:nvPr/>
        </p:nvSpPr>
        <p:spPr>
          <a:xfrm>
            <a:off x="521789" y="4419582"/>
            <a:ext cx="191357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365" name="Title 1"/>
          <p:cNvSpPr txBox="1"/>
          <p:nvPr>
            <p:ph type="title"/>
          </p:nvPr>
        </p:nvSpPr>
        <p:spPr>
          <a:xfrm>
            <a:off x="107503" y="214952"/>
            <a:ext cx="8928994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Sistema de reservas de los nuevos espacios de ICESI por medio de claves temporales</a:t>
            </a:r>
          </a:p>
        </p:txBody>
      </p:sp>
      <p:sp>
        <p:nvSpPr>
          <p:cNvPr id="366" name="TextBox 1"/>
          <p:cNvSpPr txBox="1"/>
          <p:nvPr/>
        </p:nvSpPr>
        <p:spPr>
          <a:xfrm>
            <a:off x="75724" y="2209175"/>
            <a:ext cx="2342202" cy="69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Cerradura electrónica con teclado para digitar la clave temporal</a:t>
            </a:r>
          </a:p>
        </p:txBody>
      </p:sp>
      <p:pic>
        <p:nvPicPr>
          <p:cNvPr id="367" name="Picture 2" descr="Picture 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355975" y="2850556"/>
            <a:ext cx="1368153" cy="14493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05893" y="1779702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70" name="TextBox 4"/>
          <p:cNvSpPr txBox="1"/>
          <p:nvPr/>
        </p:nvSpPr>
        <p:spPr>
          <a:xfrm>
            <a:off x="7569355" y="2550198"/>
            <a:ext cx="1193076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Database</a:t>
            </a:r>
          </a:p>
        </p:txBody>
      </p:sp>
      <p:pic>
        <p:nvPicPr>
          <p:cNvPr id="371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80973" y="1617063"/>
            <a:ext cx="720001" cy="589219"/>
          </a:xfrm>
          <a:prstGeom prst="rect">
            <a:avLst/>
          </a:prstGeom>
          <a:ln w="12700">
            <a:miter lim="400000"/>
          </a:ln>
        </p:spPr>
      </p:pic>
      <p:sp>
        <p:nvSpPr>
          <p:cNvPr id="372" name="Straight Connector 6"/>
          <p:cNvSpPr/>
          <p:nvPr/>
        </p:nvSpPr>
        <p:spPr>
          <a:xfrm>
            <a:off x="3275855" y="4371949"/>
            <a:ext cx="5631544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373" name="TextBox 7"/>
          <p:cNvSpPr txBox="1"/>
          <p:nvPr/>
        </p:nvSpPr>
        <p:spPr>
          <a:xfrm>
            <a:off x="5398230" y="4435078"/>
            <a:ext cx="1913574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BACKEND</a:t>
            </a:r>
          </a:p>
        </p:txBody>
      </p:sp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352510" y="1574288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75" name="TextBox 9"/>
          <p:cNvSpPr txBox="1"/>
          <p:nvPr/>
        </p:nvSpPr>
        <p:spPr>
          <a:xfrm>
            <a:off x="3504808" y="2300545"/>
            <a:ext cx="1193076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Interfaz</a:t>
            </a:r>
          </a:p>
        </p:txBody>
      </p:sp>
      <p:sp>
        <p:nvSpPr>
          <p:cNvPr id="376" name="TextBox 10"/>
          <p:cNvSpPr txBox="1"/>
          <p:nvPr/>
        </p:nvSpPr>
        <p:spPr>
          <a:xfrm>
            <a:off x="4789323" y="2310907"/>
            <a:ext cx="15533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Lógica y reglas</a:t>
            </a:r>
          </a:p>
        </p:txBody>
      </p:sp>
      <p:sp>
        <p:nvSpPr>
          <p:cNvPr id="377" name="Straight Arrow Connector 11"/>
          <p:cNvSpPr/>
          <p:nvPr/>
        </p:nvSpPr>
        <p:spPr>
          <a:xfrm>
            <a:off x="6683230" y="2139701"/>
            <a:ext cx="1126138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378" name="TextBox 13"/>
          <p:cNvSpPr txBox="1"/>
          <p:nvPr/>
        </p:nvSpPr>
        <p:spPr>
          <a:xfrm>
            <a:off x="6969767" y="1820866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TCP</a:t>
            </a:r>
          </a:p>
        </p:txBody>
      </p:sp>
      <p:sp>
        <p:nvSpPr>
          <p:cNvPr id="379" name="Rectangle 14"/>
          <p:cNvSpPr/>
          <p:nvPr/>
        </p:nvSpPr>
        <p:spPr>
          <a:xfrm>
            <a:off x="3322666" y="1479321"/>
            <a:ext cx="3360566" cy="1309963"/>
          </a:xfrm>
          <a:prstGeom prst="rect">
            <a:avLst/>
          </a:prstGeom>
          <a:ln w="15875">
            <a:solidFill>
              <a:schemeClr val="accent1">
                <a:lumOff val="44000"/>
              </a:schemeClr>
            </a:solidFill>
            <a:prstDash val="lgDash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pic>
        <p:nvPicPr>
          <p:cNvPr id="380" name="Picture 10" descr="Picture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99591" y="1453965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81" name="Elbow Connector 17"/>
          <p:cNvSpPr/>
          <p:nvPr/>
        </p:nvSpPr>
        <p:spPr>
          <a:xfrm>
            <a:off x="1619592" y="1813965"/>
            <a:ext cx="1703074" cy="1915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82" name="TextBox 18"/>
          <p:cNvSpPr txBox="1"/>
          <p:nvPr/>
        </p:nvSpPr>
        <p:spPr>
          <a:xfrm>
            <a:off x="1895552" y="1485039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HTTP</a:t>
            </a:r>
          </a:p>
        </p:txBody>
      </p:sp>
      <p:pic>
        <p:nvPicPr>
          <p:cNvPr id="383" name="Picture 12" descr="Picture 1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92739" y="3230677"/>
            <a:ext cx="740242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84" name="TextBox 20"/>
          <p:cNvSpPr txBox="1"/>
          <p:nvPr/>
        </p:nvSpPr>
        <p:spPr>
          <a:xfrm>
            <a:off x="42236" y="4007360"/>
            <a:ext cx="3082863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Dashboard de monitoreo</a:t>
            </a:r>
          </a:p>
        </p:txBody>
      </p:sp>
      <p:sp>
        <p:nvSpPr>
          <p:cNvPr id="385" name="Elbow Connector 21"/>
          <p:cNvSpPr/>
          <p:nvPr/>
        </p:nvSpPr>
        <p:spPr>
          <a:xfrm flipV="1">
            <a:off x="1632980" y="2440777"/>
            <a:ext cx="1676352" cy="1149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86" name="TextBox 22"/>
          <p:cNvSpPr txBox="1"/>
          <p:nvPr/>
        </p:nvSpPr>
        <p:spPr>
          <a:xfrm>
            <a:off x="1895552" y="3562782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HTTP</a:t>
            </a:r>
          </a:p>
        </p:txBody>
      </p:sp>
      <p:sp>
        <p:nvSpPr>
          <p:cNvPr id="387" name="Straight Connector 23"/>
          <p:cNvSpPr/>
          <p:nvPr/>
        </p:nvSpPr>
        <p:spPr>
          <a:xfrm>
            <a:off x="107503" y="4367360"/>
            <a:ext cx="2952329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388" name="TextBox 24"/>
          <p:cNvSpPr txBox="1"/>
          <p:nvPr/>
        </p:nvSpPr>
        <p:spPr>
          <a:xfrm>
            <a:off x="521789" y="4419582"/>
            <a:ext cx="191357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389" name="Title 1"/>
          <p:cNvSpPr txBox="1"/>
          <p:nvPr>
            <p:ph type="title"/>
          </p:nvPr>
        </p:nvSpPr>
        <p:spPr>
          <a:xfrm>
            <a:off x="107503" y="214952"/>
            <a:ext cx="8928994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Sistema de vigilancia en hogares</a:t>
            </a:r>
          </a:p>
        </p:txBody>
      </p:sp>
      <p:sp>
        <p:nvSpPr>
          <p:cNvPr id="390" name="TextBox 1"/>
          <p:cNvSpPr txBox="1"/>
          <p:nvPr/>
        </p:nvSpPr>
        <p:spPr>
          <a:xfrm>
            <a:off x="75724" y="2209175"/>
            <a:ext cx="2342202" cy="69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Sistema de cámara, sensores de movimiento y alarma</a:t>
            </a:r>
          </a:p>
        </p:txBody>
      </p:sp>
      <p:pic>
        <p:nvPicPr>
          <p:cNvPr id="391" name="Picture 2" descr="Picture 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806788" y="2926551"/>
            <a:ext cx="2265724" cy="13364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05893" y="1779702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94" name="TextBox 4"/>
          <p:cNvSpPr txBox="1"/>
          <p:nvPr/>
        </p:nvSpPr>
        <p:spPr>
          <a:xfrm>
            <a:off x="7569355" y="2550198"/>
            <a:ext cx="1193076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Database</a:t>
            </a:r>
          </a:p>
        </p:txBody>
      </p:sp>
      <p:pic>
        <p:nvPicPr>
          <p:cNvPr id="395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780973" y="1617063"/>
            <a:ext cx="720001" cy="589219"/>
          </a:xfrm>
          <a:prstGeom prst="rect">
            <a:avLst/>
          </a:prstGeom>
          <a:ln w="12700">
            <a:miter lim="400000"/>
          </a:ln>
        </p:spPr>
      </p:pic>
      <p:sp>
        <p:nvSpPr>
          <p:cNvPr id="396" name="Straight Connector 6"/>
          <p:cNvSpPr/>
          <p:nvPr/>
        </p:nvSpPr>
        <p:spPr>
          <a:xfrm>
            <a:off x="3275855" y="4371949"/>
            <a:ext cx="5631544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397" name="TextBox 7"/>
          <p:cNvSpPr txBox="1"/>
          <p:nvPr/>
        </p:nvSpPr>
        <p:spPr>
          <a:xfrm>
            <a:off x="5398230" y="4435078"/>
            <a:ext cx="1913574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BACKEND</a:t>
            </a:r>
          </a:p>
        </p:txBody>
      </p:sp>
      <p:pic>
        <p:nvPicPr>
          <p:cNvPr id="398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352510" y="1574288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99" name="TextBox 9"/>
          <p:cNvSpPr txBox="1"/>
          <p:nvPr/>
        </p:nvSpPr>
        <p:spPr>
          <a:xfrm>
            <a:off x="3504808" y="2300545"/>
            <a:ext cx="1193076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Interfaz</a:t>
            </a:r>
          </a:p>
        </p:txBody>
      </p:sp>
      <p:sp>
        <p:nvSpPr>
          <p:cNvPr id="400" name="TextBox 10"/>
          <p:cNvSpPr txBox="1"/>
          <p:nvPr/>
        </p:nvSpPr>
        <p:spPr>
          <a:xfrm>
            <a:off x="4789323" y="2310907"/>
            <a:ext cx="15533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Lógica y reglas</a:t>
            </a:r>
          </a:p>
        </p:txBody>
      </p:sp>
      <p:sp>
        <p:nvSpPr>
          <p:cNvPr id="401" name="Straight Arrow Connector 11"/>
          <p:cNvSpPr/>
          <p:nvPr/>
        </p:nvSpPr>
        <p:spPr>
          <a:xfrm>
            <a:off x="6683230" y="2139701"/>
            <a:ext cx="1126138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402" name="TextBox 13"/>
          <p:cNvSpPr txBox="1"/>
          <p:nvPr/>
        </p:nvSpPr>
        <p:spPr>
          <a:xfrm>
            <a:off x="6969767" y="1820866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TCP</a:t>
            </a:r>
          </a:p>
        </p:txBody>
      </p:sp>
      <p:sp>
        <p:nvSpPr>
          <p:cNvPr id="403" name="Rectangle 14"/>
          <p:cNvSpPr/>
          <p:nvPr/>
        </p:nvSpPr>
        <p:spPr>
          <a:xfrm>
            <a:off x="3322666" y="1479321"/>
            <a:ext cx="3360566" cy="1309963"/>
          </a:xfrm>
          <a:prstGeom prst="rect">
            <a:avLst/>
          </a:prstGeom>
          <a:ln w="15875">
            <a:solidFill>
              <a:schemeClr val="accent1">
                <a:lumOff val="44000"/>
              </a:schemeClr>
            </a:solidFill>
            <a:prstDash val="lgDash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pic>
        <p:nvPicPr>
          <p:cNvPr id="404" name="Picture 10" descr="Picture 1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99591" y="1453965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405" name="Elbow Connector 17"/>
          <p:cNvSpPr/>
          <p:nvPr/>
        </p:nvSpPr>
        <p:spPr>
          <a:xfrm>
            <a:off x="1619592" y="1813965"/>
            <a:ext cx="1703074" cy="1915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06" name="TextBox 18"/>
          <p:cNvSpPr txBox="1"/>
          <p:nvPr/>
        </p:nvSpPr>
        <p:spPr>
          <a:xfrm>
            <a:off x="1895552" y="1485039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HTTP</a:t>
            </a:r>
          </a:p>
        </p:txBody>
      </p:sp>
      <p:pic>
        <p:nvPicPr>
          <p:cNvPr id="407" name="Picture 12" descr="Picture 1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92739" y="3230677"/>
            <a:ext cx="740242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408" name="TextBox 20"/>
          <p:cNvSpPr txBox="1"/>
          <p:nvPr/>
        </p:nvSpPr>
        <p:spPr>
          <a:xfrm>
            <a:off x="42236" y="4007360"/>
            <a:ext cx="3082863" cy="4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Dashboard con informes de pacientes</a:t>
            </a:r>
          </a:p>
        </p:txBody>
      </p:sp>
      <p:sp>
        <p:nvSpPr>
          <p:cNvPr id="409" name="Elbow Connector 21"/>
          <p:cNvSpPr/>
          <p:nvPr/>
        </p:nvSpPr>
        <p:spPr>
          <a:xfrm flipV="1">
            <a:off x="1632980" y="2440777"/>
            <a:ext cx="1676352" cy="1149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10" name="TextBox 22"/>
          <p:cNvSpPr txBox="1"/>
          <p:nvPr/>
        </p:nvSpPr>
        <p:spPr>
          <a:xfrm>
            <a:off x="1895552" y="3562782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HTTP</a:t>
            </a:r>
          </a:p>
        </p:txBody>
      </p:sp>
      <p:sp>
        <p:nvSpPr>
          <p:cNvPr id="411" name="Straight Connector 23"/>
          <p:cNvSpPr/>
          <p:nvPr/>
        </p:nvSpPr>
        <p:spPr>
          <a:xfrm>
            <a:off x="107503" y="4367360"/>
            <a:ext cx="2952329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412" name="TextBox 24"/>
          <p:cNvSpPr txBox="1"/>
          <p:nvPr/>
        </p:nvSpPr>
        <p:spPr>
          <a:xfrm>
            <a:off x="521789" y="4419582"/>
            <a:ext cx="191357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413" name="Title 1"/>
          <p:cNvSpPr txBox="1"/>
          <p:nvPr>
            <p:ph type="title"/>
          </p:nvPr>
        </p:nvSpPr>
        <p:spPr>
          <a:xfrm>
            <a:off x="107503" y="214952"/>
            <a:ext cx="8928994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Sistema de medición de temblor en manos para la prueba de espiral de arquímedes</a:t>
            </a:r>
          </a:p>
        </p:txBody>
      </p:sp>
      <p:sp>
        <p:nvSpPr>
          <p:cNvPr id="414" name="TextBox 1"/>
          <p:cNvSpPr txBox="1"/>
          <p:nvPr/>
        </p:nvSpPr>
        <p:spPr>
          <a:xfrm>
            <a:off x="75724" y="2209176"/>
            <a:ext cx="2342202" cy="492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Sensores para registrar movimiento en manos</a:t>
            </a:r>
          </a:p>
        </p:txBody>
      </p:sp>
      <p:pic>
        <p:nvPicPr>
          <p:cNvPr id="415" name="Picture 2" descr="Picture 2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203848" y="2855017"/>
            <a:ext cx="1349317" cy="13707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16" name="Picture 4" descr="Picture 4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591656" y="2850580"/>
            <a:ext cx="2467148" cy="13706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05893" y="1779702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421" name="TextBox 4"/>
          <p:cNvSpPr txBox="1"/>
          <p:nvPr/>
        </p:nvSpPr>
        <p:spPr>
          <a:xfrm>
            <a:off x="7569355" y="2550198"/>
            <a:ext cx="1193076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Database</a:t>
            </a:r>
          </a:p>
        </p:txBody>
      </p:sp>
      <p:pic>
        <p:nvPicPr>
          <p:cNvPr id="422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780973" y="1617063"/>
            <a:ext cx="720001" cy="589219"/>
          </a:xfrm>
          <a:prstGeom prst="rect">
            <a:avLst/>
          </a:prstGeom>
          <a:ln w="12700">
            <a:miter lim="400000"/>
          </a:ln>
        </p:spPr>
      </p:pic>
      <p:sp>
        <p:nvSpPr>
          <p:cNvPr id="423" name="Straight Connector 6"/>
          <p:cNvSpPr/>
          <p:nvPr/>
        </p:nvSpPr>
        <p:spPr>
          <a:xfrm>
            <a:off x="3275855" y="4371949"/>
            <a:ext cx="5631544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424" name="TextBox 7"/>
          <p:cNvSpPr txBox="1"/>
          <p:nvPr/>
        </p:nvSpPr>
        <p:spPr>
          <a:xfrm>
            <a:off x="5398230" y="4435078"/>
            <a:ext cx="1913575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BACKEND</a:t>
            </a:r>
          </a:p>
        </p:txBody>
      </p:sp>
      <p:pic>
        <p:nvPicPr>
          <p:cNvPr id="425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352510" y="1574288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426" name="TextBox 9"/>
          <p:cNvSpPr txBox="1"/>
          <p:nvPr/>
        </p:nvSpPr>
        <p:spPr>
          <a:xfrm>
            <a:off x="3504808" y="2300545"/>
            <a:ext cx="1193076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Interfaz</a:t>
            </a:r>
          </a:p>
        </p:txBody>
      </p:sp>
      <p:sp>
        <p:nvSpPr>
          <p:cNvPr id="427" name="TextBox 10"/>
          <p:cNvSpPr txBox="1"/>
          <p:nvPr/>
        </p:nvSpPr>
        <p:spPr>
          <a:xfrm>
            <a:off x="4789323" y="2310907"/>
            <a:ext cx="15533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Lógica y reglas</a:t>
            </a:r>
          </a:p>
        </p:txBody>
      </p:sp>
      <p:sp>
        <p:nvSpPr>
          <p:cNvPr id="428" name="Straight Arrow Connector 11"/>
          <p:cNvSpPr/>
          <p:nvPr/>
        </p:nvSpPr>
        <p:spPr>
          <a:xfrm>
            <a:off x="6683230" y="2139701"/>
            <a:ext cx="1126138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429" name="TextBox 13"/>
          <p:cNvSpPr txBox="1"/>
          <p:nvPr/>
        </p:nvSpPr>
        <p:spPr>
          <a:xfrm>
            <a:off x="6969767" y="1820866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TCP</a:t>
            </a:r>
          </a:p>
        </p:txBody>
      </p:sp>
      <p:sp>
        <p:nvSpPr>
          <p:cNvPr id="430" name="Rectangle 14"/>
          <p:cNvSpPr/>
          <p:nvPr/>
        </p:nvSpPr>
        <p:spPr>
          <a:xfrm>
            <a:off x="3322666" y="1479321"/>
            <a:ext cx="3360566" cy="1309963"/>
          </a:xfrm>
          <a:prstGeom prst="rect">
            <a:avLst/>
          </a:prstGeom>
          <a:ln w="15875">
            <a:solidFill>
              <a:schemeClr val="accent1">
                <a:lumOff val="44000"/>
              </a:schemeClr>
            </a:solidFill>
            <a:prstDash val="lgDash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pic>
        <p:nvPicPr>
          <p:cNvPr id="431" name="Picture 10" descr="Picture 1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99591" y="1453965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432" name="Elbow Connector 17"/>
          <p:cNvSpPr/>
          <p:nvPr/>
        </p:nvSpPr>
        <p:spPr>
          <a:xfrm>
            <a:off x="1619592" y="1813965"/>
            <a:ext cx="1703074" cy="1915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33" name="TextBox 18"/>
          <p:cNvSpPr txBox="1"/>
          <p:nvPr/>
        </p:nvSpPr>
        <p:spPr>
          <a:xfrm>
            <a:off x="1895552" y="1485039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HTTP</a:t>
            </a:r>
          </a:p>
        </p:txBody>
      </p:sp>
      <p:pic>
        <p:nvPicPr>
          <p:cNvPr id="434" name="Picture 12" descr="Picture 1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92739" y="3230677"/>
            <a:ext cx="740242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extBox 20"/>
          <p:cNvSpPr txBox="1"/>
          <p:nvPr/>
        </p:nvSpPr>
        <p:spPr>
          <a:xfrm>
            <a:off x="42236" y="4007360"/>
            <a:ext cx="3082863" cy="4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Dashboard con data disponible y control de actuaderes</a:t>
            </a:r>
          </a:p>
        </p:txBody>
      </p:sp>
      <p:sp>
        <p:nvSpPr>
          <p:cNvPr id="436" name="Elbow Connector 21"/>
          <p:cNvSpPr/>
          <p:nvPr/>
        </p:nvSpPr>
        <p:spPr>
          <a:xfrm flipV="1">
            <a:off x="1632979" y="2440777"/>
            <a:ext cx="1676353" cy="11499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37" name="TextBox 22"/>
          <p:cNvSpPr txBox="1"/>
          <p:nvPr/>
        </p:nvSpPr>
        <p:spPr>
          <a:xfrm>
            <a:off x="1895552" y="3562782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HTTP</a:t>
            </a:r>
          </a:p>
        </p:txBody>
      </p:sp>
      <p:sp>
        <p:nvSpPr>
          <p:cNvPr id="438" name="Straight Connector 23"/>
          <p:cNvSpPr/>
          <p:nvPr/>
        </p:nvSpPr>
        <p:spPr>
          <a:xfrm>
            <a:off x="107503" y="4367360"/>
            <a:ext cx="2952330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439" name="TextBox 24"/>
          <p:cNvSpPr txBox="1"/>
          <p:nvPr/>
        </p:nvSpPr>
        <p:spPr>
          <a:xfrm>
            <a:off x="521790" y="4419582"/>
            <a:ext cx="1913574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440" name="Title 1"/>
          <p:cNvSpPr txBox="1"/>
          <p:nvPr>
            <p:ph type="title"/>
          </p:nvPr>
        </p:nvSpPr>
        <p:spPr>
          <a:xfrm>
            <a:off x="107503" y="214952"/>
            <a:ext cx="8928994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Vivero inteligente</a:t>
            </a:r>
          </a:p>
        </p:txBody>
      </p:sp>
      <p:sp>
        <p:nvSpPr>
          <p:cNvPr id="441" name="TextBox 1"/>
          <p:cNvSpPr txBox="1"/>
          <p:nvPr/>
        </p:nvSpPr>
        <p:spPr>
          <a:xfrm>
            <a:off x="75724" y="2209176"/>
            <a:ext cx="2342202" cy="695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Sensores para temperatura y humedad.</a:t>
            </a:r>
            <a:br/>
            <a:r>
              <a:t>Humificador</a:t>
            </a:r>
          </a:p>
        </p:txBody>
      </p:sp>
      <p:pic>
        <p:nvPicPr>
          <p:cNvPr id="442" name="pasted-movie.png" descr="pasted-movi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871677" y="2863588"/>
            <a:ext cx="2262543" cy="15083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05893" y="1779702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447" name="TextBox 4"/>
          <p:cNvSpPr txBox="1"/>
          <p:nvPr/>
        </p:nvSpPr>
        <p:spPr>
          <a:xfrm>
            <a:off x="7569355" y="2550198"/>
            <a:ext cx="1193076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Database</a:t>
            </a:r>
          </a:p>
        </p:txBody>
      </p:sp>
      <p:pic>
        <p:nvPicPr>
          <p:cNvPr id="448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780973" y="1617063"/>
            <a:ext cx="720001" cy="589219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Straight Connector 6"/>
          <p:cNvSpPr/>
          <p:nvPr/>
        </p:nvSpPr>
        <p:spPr>
          <a:xfrm>
            <a:off x="3275855" y="4371949"/>
            <a:ext cx="5631544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450" name="TextBox 7"/>
          <p:cNvSpPr txBox="1"/>
          <p:nvPr/>
        </p:nvSpPr>
        <p:spPr>
          <a:xfrm>
            <a:off x="5398230" y="4435078"/>
            <a:ext cx="1913575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BACKEND</a:t>
            </a:r>
          </a:p>
        </p:txBody>
      </p:sp>
      <p:pic>
        <p:nvPicPr>
          <p:cNvPr id="451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352510" y="1574288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452" name="TextBox 9"/>
          <p:cNvSpPr txBox="1"/>
          <p:nvPr/>
        </p:nvSpPr>
        <p:spPr>
          <a:xfrm>
            <a:off x="3504808" y="2300545"/>
            <a:ext cx="1193076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Interfaz</a:t>
            </a:r>
          </a:p>
        </p:txBody>
      </p:sp>
      <p:sp>
        <p:nvSpPr>
          <p:cNvPr id="453" name="TextBox 10"/>
          <p:cNvSpPr txBox="1"/>
          <p:nvPr/>
        </p:nvSpPr>
        <p:spPr>
          <a:xfrm>
            <a:off x="4789323" y="2310907"/>
            <a:ext cx="1553325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Lógica y reglas</a:t>
            </a:r>
          </a:p>
        </p:txBody>
      </p:sp>
      <p:sp>
        <p:nvSpPr>
          <p:cNvPr id="454" name="Straight Arrow Connector 11"/>
          <p:cNvSpPr/>
          <p:nvPr/>
        </p:nvSpPr>
        <p:spPr>
          <a:xfrm>
            <a:off x="6683230" y="2139701"/>
            <a:ext cx="1126138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455" name="TextBox 13"/>
          <p:cNvSpPr txBox="1"/>
          <p:nvPr/>
        </p:nvSpPr>
        <p:spPr>
          <a:xfrm>
            <a:off x="6969767" y="1820866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TCP</a:t>
            </a:r>
          </a:p>
        </p:txBody>
      </p:sp>
      <p:sp>
        <p:nvSpPr>
          <p:cNvPr id="456" name="Rectangle 14"/>
          <p:cNvSpPr/>
          <p:nvPr/>
        </p:nvSpPr>
        <p:spPr>
          <a:xfrm>
            <a:off x="3322666" y="1479321"/>
            <a:ext cx="3360566" cy="1309963"/>
          </a:xfrm>
          <a:prstGeom prst="rect">
            <a:avLst/>
          </a:prstGeom>
          <a:ln w="15875">
            <a:solidFill>
              <a:schemeClr val="accent1">
                <a:lumOff val="44000"/>
              </a:schemeClr>
            </a:solidFill>
            <a:prstDash val="lgDash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pic>
        <p:nvPicPr>
          <p:cNvPr id="457" name="Picture 10" descr="Picture 1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99591" y="1453965"/>
            <a:ext cx="720001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458" name="Elbow Connector 17"/>
          <p:cNvSpPr/>
          <p:nvPr/>
        </p:nvSpPr>
        <p:spPr>
          <a:xfrm>
            <a:off x="1619592" y="1813965"/>
            <a:ext cx="1703074" cy="1915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59" name="TextBox 18"/>
          <p:cNvSpPr txBox="1"/>
          <p:nvPr/>
        </p:nvSpPr>
        <p:spPr>
          <a:xfrm>
            <a:off x="1895552" y="1485039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HTTP</a:t>
            </a:r>
          </a:p>
        </p:txBody>
      </p:sp>
      <p:pic>
        <p:nvPicPr>
          <p:cNvPr id="460" name="Picture 12" descr="Picture 1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92739" y="3230677"/>
            <a:ext cx="740242" cy="7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461" name="TextBox 20"/>
          <p:cNvSpPr txBox="1"/>
          <p:nvPr/>
        </p:nvSpPr>
        <p:spPr>
          <a:xfrm>
            <a:off x="42236" y="4007360"/>
            <a:ext cx="3082863" cy="4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Dashboard con data disponible y control de actuaderes</a:t>
            </a:r>
          </a:p>
        </p:txBody>
      </p:sp>
      <p:sp>
        <p:nvSpPr>
          <p:cNvPr id="462" name="Elbow Connector 21"/>
          <p:cNvSpPr/>
          <p:nvPr/>
        </p:nvSpPr>
        <p:spPr>
          <a:xfrm flipV="1">
            <a:off x="1632979" y="2440777"/>
            <a:ext cx="1676353" cy="11499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10800" y="0"/>
                </a:lnTo>
                <a:lnTo>
                  <a:pt x="1080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63" name="TextBox 22"/>
          <p:cNvSpPr txBox="1"/>
          <p:nvPr/>
        </p:nvSpPr>
        <p:spPr>
          <a:xfrm>
            <a:off x="1895552" y="3562782"/>
            <a:ext cx="58943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>
                <a:solidFill>
                  <a:srgbClr val="0070C0"/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HTTP</a:t>
            </a:r>
          </a:p>
        </p:txBody>
      </p:sp>
      <p:sp>
        <p:nvSpPr>
          <p:cNvPr id="464" name="Straight Connector 23"/>
          <p:cNvSpPr/>
          <p:nvPr/>
        </p:nvSpPr>
        <p:spPr>
          <a:xfrm>
            <a:off x="107503" y="4367360"/>
            <a:ext cx="2952330" cy="1"/>
          </a:xfrm>
          <a:prstGeom prst="line">
            <a:avLst/>
          </a:prstGeom>
          <a:ln w="12700"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465" name="TextBox 24"/>
          <p:cNvSpPr txBox="1"/>
          <p:nvPr/>
        </p:nvSpPr>
        <p:spPr>
          <a:xfrm>
            <a:off x="521790" y="4419582"/>
            <a:ext cx="1913574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466" name="Title 1"/>
          <p:cNvSpPr txBox="1"/>
          <p:nvPr>
            <p:ph type="title"/>
          </p:nvPr>
        </p:nvSpPr>
        <p:spPr>
          <a:xfrm>
            <a:off x="107503" y="214952"/>
            <a:ext cx="8928994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Huerto inteligente</a:t>
            </a:r>
          </a:p>
        </p:txBody>
      </p:sp>
      <p:sp>
        <p:nvSpPr>
          <p:cNvPr id="467" name="TextBox 1"/>
          <p:cNvSpPr txBox="1"/>
          <p:nvPr/>
        </p:nvSpPr>
        <p:spPr>
          <a:xfrm>
            <a:off x="75724" y="2209176"/>
            <a:ext cx="2342202" cy="695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Sensores para temperatura y humedad de suelo</a:t>
            </a:r>
            <a:br/>
            <a:r>
              <a:t>Bomba de riego</a:t>
            </a:r>
          </a:p>
        </p:txBody>
      </p:sp>
      <p:pic>
        <p:nvPicPr>
          <p:cNvPr id="468" name="pasted-movie.png" descr="pasted-movi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871678" y="2863588"/>
            <a:ext cx="2262542" cy="150836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Title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Grupos</a:t>
            </a:r>
          </a:p>
        </p:txBody>
      </p:sp>
      <p:sp>
        <p:nvSpPr>
          <p:cNvPr id="473" name="Content Placeholder 7"/>
          <p:cNvSpPr txBox="1"/>
          <p:nvPr>
            <p:ph type="body" idx="1"/>
          </p:nvPr>
        </p:nvSpPr>
        <p:spPr>
          <a:xfrm>
            <a:off x="822960" y="1384300"/>
            <a:ext cx="7543801" cy="3017522"/>
          </a:xfrm>
          <a:prstGeom prst="rect">
            <a:avLst/>
          </a:prstGeom>
        </p:spPr>
        <p:txBody>
          <a:bodyPr/>
          <a:lstStyle/>
          <a:p>
            <a:pPr marL="34975" indent="-34975" defTabSz="349757">
              <a:spcBef>
                <a:spcPts val="400"/>
              </a:spcBef>
              <a:defRPr sz="764"/>
            </a:pPr>
            <a:r>
              <a:t>GRUPO 1</a:t>
            </a:r>
            <a:br/>
          </a:p>
          <a:p>
            <a:pPr marL="34975" indent="-34975" defTabSz="349757">
              <a:spcBef>
                <a:spcPts val="400"/>
              </a:spcBef>
              <a:defRPr sz="764"/>
            </a:pPr>
            <a:r>
              <a:t>Adri</a:t>
            </a:r>
          </a:p>
          <a:p>
            <a:pPr marL="34975" indent="-34975" defTabSz="349757">
              <a:spcBef>
                <a:spcPts val="400"/>
              </a:spcBef>
              <a:defRPr sz="764"/>
            </a:pPr>
            <a:r>
              <a:t>Angy</a:t>
            </a:r>
          </a:p>
          <a:p>
            <a:pPr marL="34975" indent="-34975" defTabSz="349757">
              <a:spcBef>
                <a:spcPts val="400"/>
              </a:spcBef>
              <a:defRPr sz="764"/>
            </a:pPr>
            <a:r>
              <a:t>Carol</a:t>
            </a:r>
          </a:p>
          <a:p>
            <a:pPr marL="34975" indent="-34975" defTabSz="349757">
              <a:spcBef>
                <a:spcPts val="400"/>
              </a:spcBef>
              <a:defRPr sz="764"/>
            </a:pPr>
            <a:r>
              <a:t>Maria Paz</a:t>
            </a:r>
          </a:p>
          <a:p>
            <a:pPr marL="34975" indent="-34975" defTabSz="349757">
              <a:spcBef>
                <a:spcPts val="400"/>
              </a:spcBef>
              <a:defRPr sz="764"/>
            </a:pPr>
          </a:p>
          <a:p>
            <a:pPr marL="34975" indent="-34975" defTabSz="349757">
              <a:spcBef>
                <a:spcPts val="400"/>
              </a:spcBef>
              <a:defRPr sz="764"/>
            </a:pPr>
            <a:r>
              <a:t>GRUPO 2</a:t>
            </a:r>
          </a:p>
          <a:p>
            <a:pPr marL="34975" indent="-34975" defTabSz="349757">
              <a:spcBef>
                <a:spcPts val="400"/>
              </a:spcBef>
              <a:defRPr sz="764"/>
            </a:pPr>
            <a:r>
              <a:t>Laura</a:t>
            </a:r>
          </a:p>
          <a:p>
            <a:pPr marL="34975" indent="-34975" defTabSz="349757">
              <a:spcBef>
                <a:spcPts val="400"/>
              </a:spcBef>
              <a:defRPr sz="764"/>
            </a:pPr>
            <a:r>
              <a:t>Samuel</a:t>
            </a:r>
          </a:p>
          <a:p>
            <a:pPr marL="34975" indent="-34975" defTabSz="349757">
              <a:spcBef>
                <a:spcPts val="400"/>
              </a:spcBef>
              <a:defRPr sz="764"/>
            </a:pPr>
            <a:r>
              <a:t>Nicol</a:t>
            </a:r>
          </a:p>
          <a:p>
            <a:pPr marL="34975" indent="-34975" defTabSz="349757">
              <a:spcBef>
                <a:spcPts val="400"/>
              </a:spcBef>
              <a:defRPr sz="764"/>
            </a:pPr>
            <a:r>
              <a:t>Jose David</a:t>
            </a:r>
          </a:p>
          <a:p>
            <a:pPr marL="34975" indent="-34975" defTabSz="349757">
              <a:spcBef>
                <a:spcPts val="400"/>
              </a:spcBef>
              <a:defRPr sz="764"/>
            </a:pPr>
          </a:p>
          <a:p>
            <a:pPr marL="34975" indent="-34975" defTabSz="349757">
              <a:spcBef>
                <a:spcPts val="400"/>
              </a:spcBef>
              <a:defRPr sz="764"/>
            </a:pPr>
            <a:r>
              <a:t>Grupo 3</a:t>
            </a:r>
          </a:p>
          <a:p>
            <a:pPr marL="34975" indent="-34975" defTabSz="349757">
              <a:spcBef>
                <a:spcPts val="400"/>
              </a:spcBef>
              <a:defRPr sz="764"/>
            </a:pPr>
            <a:r>
              <a:t>Jhony</a:t>
            </a:r>
          </a:p>
          <a:p>
            <a:pPr marL="34975" indent="-34975" defTabSz="349757">
              <a:spcBef>
                <a:spcPts val="400"/>
              </a:spcBef>
              <a:defRPr sz="764"/>
            </a:pPr>
            <a:r>
              <a:t>Luis</a:t>
            </a:r>
          </a:p>
          <a:p>
            <a:pPr marL="34975" indent="-34975" defTabSz="349757">
              <a:spcBef>
                <a:spcPts val="400"/>
              </a:spcBef>
              <a:defRPr sz="764"/>
            </a:pPr>
            <a:r>
              <a:t>Libreros</a:t>
            </a:r>
          </a:p>
          <a:p>
            <a:pPr marL="34975" indent="-34975" defTabSz="349757">
              <a:spcBef>
                <a:spcPts val="400"/>
              </a:spcBef>
              <a:defRPr sz="764"/>
            </a:pPr>
            <a:r>
              <a:t>Santiago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Título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Calificación</a:t>
            </a:r>
          </a:p>
        </p:txBody>
      </p:sp>
      <p:pic>
        <p:nvPicPr>
          <p:cNvPr id="476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04" y="70936"/>
            <a:ext cx="1353520" cy="42619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79" name="Rectángulo redondeado 27"/>
          <p:cNvGrpSpPr/>
          <p:nvPr/>
        </p:nvGrpSpPr>
        <p:grpSpPr>
          <a:xfrm>
            <a:off x="478250" y="1631329"/>
            <a:ext cx="2149534" cy="280800"/>
            <a:chOff x="0" y="0"/>
            <a:chExt cx="2149533" cy="280798"/>
          </a:xfrm>
        </p:grpSpPr>
        <p:sp>
          <p:nvSpPr>
            <p:cNvPr id="477" name="Rounded Rectangle"/>
            <p:cNvSpPr/>
            <p:nvPr/>
          </p:nvSpPr>
          <p:spPr>
            <a:xfrm>
              <a:off x="0" y="5519"/>
              <a:ext cx="2149534" cy="26976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478" name="10%"/>
            <p:cNvSpPr txBox="1"/>
            <p:nvPr/>
          </p:nvSpPr>
          <p:spPr>
            <a:xfrm>
              <a:off x="66826" y="0"/>
              <a:ext cx="2015882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r">
                <a:defRPr>
                  <a:solidFill>
                    <a:srgbClr val="7030A0"/>
                  </a:solidFill>
                </a:defRPr>
              </a:lvl1pPr>
            </a:lstStyle>
            <a:p>
              <a:pPr/>
              <a:r>
                <a:t>10%</a:t>
              </a:r>
            </a:p>
          </p:txBody>
        </p:sp>
      </p:grpSp>
      <p:sp>
        <p:nvSpPr>
          <p:cNvPr id="480" name="CuadroTexto 28"/>
          <p:cNvSpPr txBox="1"/>
          <p:nvPr/>
        </p:nvSpPr>
        <p:spPr>
          <a:xfrm>
            <a:off x="260204" y="3922686"/>
            <a:ext cx="2079505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Implementación</a:t>
            </a:r>
          </a:p>
        </p:txBody>
      </p:sp>
      <p:sp>
        <p:nvSpPr>
          <p:cNvPr id="481" name="CuadroTexto 29"/>
          <p:cNvSpPr txBox="1"/>
          <p:nvPr/>
        </p:nvSpPr>
        <p:spPr>
          <a:xfrm>
            <a:off x="297241" y="1347223"/>
            <a:ext cx="222352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Fase de análisis</a:t>
            </a:r>
          </a:p>
        </p:txBody>
      </p:sp>
      <p:grpSp>
        <p:nvGrpSpPr>
          <p:cNvPr id="484" name="Rectángulo redondeado 30"/>
          <p:cNvGrpSpPr/>
          <p:nvPr/>
        </p:nvGrpSpPr>
        <p:grpSpPr>
          <a:xfrm>
            <a:off x="441212" y="4215633"/>
            <a:ext cx="4091408" cy="280800"/>
            <a:chOff x="0" y="0"/>
            <a:chExt cx="4091406" cy="280798"/>
          </a:xfrm>
        </p:grpSpPr>
        <p:sp>
          <p:nvSpPr>
            <p:cNvPr id="482" name="Rounded Rectangle"/>
            <p:cNvSpPr/>
            <p:nvPr/>
          </p:nvSpPr>
          <p:spPr>
            <a:xfrm>
              <a:off x="0" y="5519"/>
              <a:ext cx="4091407" cy="26976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483" name="40%"/>
            <p:cNvSpPr txBox="1"/>
            <p:nvPr/>
          </p:nvSpPr>
          <p:spPr>
            <a:xfrm>
              <a:off x="66826" y="0"/>
              <a:ext cx="3957754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r">
                <a:defRPr>
                  <a:solidFill>
                    <a:srgbClr val="7030A0"/>
                  </a:solidFill>
                </a:defRPr>
              </a:lvl1pPr>
            </a:lstStyle>
            <a:p>
              <a:pPr/>
              <a:r>
                <a:t>40%</a:t>
              </a:r>
            </a:p>
          </p:txBody>
        </p:sp>
      </p:grpSp>
      <p:grpSp>
        <p:nvGrpSpPr>
          <p:cNvPr id="487" name="Rectángulo redondeado 27"/>
          <p:cNvGrpSpPr/>
          <p:nvPr/>
        </p:nvGrpSpPr>
        <p:grpSpPr>
          <a:xfrm>
            <a:off x="446137" y="2296470"/>
            <a:ext cx="2181647" cy="280800"/>
            <a:chOff x="0" y="0"/>
            <a:chExt cx="2181645" cy="280798"/>
          </a:xfrm>
        </p:grpSpPr>
        <p:sp>
          <p:nvSpPr>
            <p:cNvPr id="485" name="Rounded Rectangle"/>
            <p:cNvSpPr/>
            <p:nvPr/>
          </p:nvSpPr>
          <p:spPr>
            <a:xfrm>
              <a:off x="0" y="5519"/>
              <a:ext cx="2181646" cy="26976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486" name="10%"/>
            <p:cNvSpPr txBox="1"/>
            <p:nvPr/>
          </p:nvSpPr>
          <p:spPr>
            <a:xfrm>
              <a:off x="66826" y="0"/>
              <a:ext cx="2047994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r">
                <a:defRPr>
                  <a:solidFill>
                    <a:srgbClr val="7030A0"/>
                  </a:solidFill>
                </a:defRPr>
              </a:lvl1pPr>
            </a:lstStyle>
            <a:p>
              <a:pPr/>
              <a:r>
                <a:t>10%</a:t>
              </a:r>
            </a:p>
          </p:txBody>
        </p:sp>
      </p:grpSp>
      <p:sp>
        <p:nvSpPr>
          <p:cNvPr id="488" name="CuadroTexto 29"/>
          <p:cNvSpPr txBox="1"/>
          <p:nvPr/>
        </p:nvSpPr>
        <p:spPr>
          <a:xfrm>
            <a:off x="265129" y="1995685"/>
            <a:ext cx="222352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Diseño de solución</a:t>
            </a:r>
          </a:p>
        </p:txBody>
      </p:sp>
      <p:grpSp>
        <p:nvGrpSpPr>
          <p:cNvPr id="491" name="Rectángulo redondeado 27"/>
          <p:cNvGrpSpPr/>
          <p:nvPr/>
        </p:nvGrpSpPr>
        <p:grpSpPr>
          <a:xfrm>
            <a:off x="446137" y="3575935"/>
            <a:ext cx="2181646" cy="280800"/>
            <a:chOff x="0" y="0"/>
            <a:chExt cx="2181644" cy="280798"/>
          </a:xfrm>
        </p:grpSpPr>
        <p:sp>
          <p:nvSpPr>
            <p:cNvPr id="489" name="Rounded Rectangle"/>
            <p:cNvSpPr/>
            <p:nvPr/>
          </p:nvSpPr>
          <p:spPr>
            <a:xfrm>
              <a:off x="0" y="5519"/>
              <a:ext cx="2181645" cy="26976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490" name="10%"/>
            <p:cNvSpPr txBox="1"/>
            <p:nvPr/>
          </p:nvSpPr>
          <p:spPr>
            <a:xfrm>
              <a:off x="66826" y="0"/>
              <a:ext cx="2047993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r">
                <a:defRPr>
                  <a:solidFill>
                    <a:srgbClr val="7030A0"/>
                  </a:solidFill>
                </a:defRPr>
              </a:lvl1pPr>
            </a:lstStyle>
            <a:p>
              <a:pPr/>
              <a:r>
                <a:t>10%</a:t>
              </a:r>
            </a:p>
          </p:txBody>
        </p:sp>
      </p:grpSp>
      <p:sp>
        <p:nvSpPr>
          <p:cNvPr id="492" name="CuadroTexto 29"/>
          <p:cNvSpPr txBox="1"/>
          <p:nvPr/>
        </p:nvSpPr>
        <p:spPr>
          <a:xfrm>
            <a:off x="265129" y="3291830"/>
            <a:ext cx="222352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Propuesta de solución</a:t>
            </a:r>
          </a:p>
        </p:txBody>
      </p:sp>
      <p:grpSp>
        <p:nvGrpSpPr>
          <p:cNvPr id="495" name="Rectángulo redondeado 27"/>
          <p:cNvGrpSpPr/>
          <p:nvPr/>
        </p:nvGrpSpPr>
        <p:grpSpPr>
          <a:xfrm>
            <a:off x="446137" y="2927863"/>
            <a:ext cx="2181647" cy="280800"/>
            <a:chOff x="0" y="0"/>
            <a:chExt cx="2181645" cy="280798"/>
          </a:xfrm>
        </p:grpSpPr>
        <p:sp>
          <p:nvSpPr>
            <p:cNvPr id="493" name="Rounded Rectangle"/>
            <p:cNvSpPr/>
            <p:nvPr/>
          </p:nvSpPr>
          <p:spPr>
            <a:xfrm>
              <a:off x="0" y="5519"/>
              <a:ext cx="2181646" cy="26976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494" name="10%"/>
            <p:cNvSpPr txBox="1"/>
            <p:nvPr/>
          </p:nvSpPr>
          <p:spPr>
            <a:xfrm>
              <a:off x="66826" y="0"/>
              <a:ext cx="2047994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r">
                <a:defRPr>
                  <a:solidFill>
                    <a:srgbClr val="7030A0"/>
                  </a:solidFill>
                </a:defRPr>
              </a:lvl1pPr>
            </a:lstStyle>
            <a:p>
              <a:pPr/>
              <a:r>
                <a:t>10%</a:t>
              </a:r>
            </a:p>
          </p:txBody>
        </p:sp>
      </p:grpSp>
      <p:sp>
        <p:nvSpPr>
          <p:cNvPr id="496" name="CuadroTexto 29"/>
          <p:cNvSpPr txBox="1"/>
          <p:nvPr/>
        </p:nvSpPr>
        <p:spPr>
          <a:xfrm>
            <a:off x="265129" y="2643758"/>
            <a:ext cx="222352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Plan de trabajo</a:t>
            </a:r>
          </a:p>
        </p:txBody>
      </p:sp>
      <p:sp>
        <p:nvSpPr>
          <p:cNvPr id="497" name="TextBox 14"/>
          <p:cNvSpPr txBox="1"/>
          <p:nvPr/>
        </p:nvSpPr>
        <p:spPr>
          <a:xfrm>
            <a:off x="4657100" y="4094422"/>
            <a:ext cx="3580969" cy="4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Cada corte viene con su respectiva exposición, implementación y trabajo escrito</a:t>
            </a:r>
          </a:p>
        </p:txBody>
      </p:sp>
      <p:grpSp>
        <p:nvGrpSpPr>
          <p:cNvPr id="500" name="Rectángulo redondeado 27"/>
          <p:cNvGrpSpPr/>
          <p:nvPr/>
        </p:nvGrpSpPr>
        <p:grpSpPr>
          <a:xfrm>
            <a:off x="4759347" y="1633927"/>
            <a:ext cx="2314960" cy="280800"/>
            <a:chOff x="0" y="0"/>
            <a:chExt cx="2314959" cy="280798"/>
          </a:xfrm>
        </p:grpSpPr>
        <p:sp>
          <p:nvSpPr>
            <p:cNvPr id="498" name="Rounded Rectangle"/>
            <p:cNvSpPr/>
            <p:nvPr/>
          </p:nvSpPr>
          <p:spPr>
            <a:xfrm>
              <a:off x="0" y="5519"/>
              <a:ext cx="2314960" cy="269761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Off val="44000"/>
              </a:schemeClr>
            </a:solidFill>
            <a:ln w="15875" cap="flat">
              <a:solidFill>
                <a:srgbClr val="BABABA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499" name="20%"/>
            <p:cNvSpPr txBox="1"/>
            <p:nvPr/>
          </p:nvSpPr>
          <p:spPr>
            <a:xfrm>
              <a:off x="66826" y="0"/>
              <a:ext cx="2181307" cy="2807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r">
                <a:defRPr>
                  <a:solidFill>
                    <a:srgbClr val="7030A0"/>
                  </a:solidFill>
                </a:defRPr>
              </a:lvl1pPr>
            </a:lstStyle>
            <a:p>
              <a:pPr/>
              <a:r>
                <a:t>20%</a:t>
              </a:r>
            </a:p>
          </p:txBody>
        </p:sp>
      </p:grpSp>
      <p:sp>
        <p:nvSpPr>
          <p:cNvPr id="501" name="CuadroTexto 29"/>
          <p:cNvSpPr txBox="1"/>
          <p:nvPr/>
        </p:nvSpPr>
        <p:spPr>
          <a:xfrm>
            <a:off x="4578339" y="1349821"/>
            <a:ext cx="2223520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Trabajo en equipo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Título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Composición del curso</a:t>
            </a:r>
          </a:p>
        </p:txBody>
      </p:sp>
      <p:sp>
        <p:nvSpPr>
          <p:cNvPr id="504" name="CuadroTexto 7"/>
          <p:cNvSpPr txBox="1"/>
          <p:nvPr/>
        </p:nvSpPr>
        <p:spPr>
          <a:xfrm>
            <a:off x="1161335" y="1779661"/>
            <a:ext cx="4157034" cy="898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UNIDAD 1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Servicios en red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pic>
        <p:nvPicPr>
          <p:cNvPr id="505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04" y="70936"/>
            <a:ext cx="1353520" cy="42619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08" name="Elipse 2"/>
          <p:cNvGrpSpPr/>
          <p:nvPr/>
        </p:nvGrpSpPr>
        <p:grpSpPr>
          <a:xfrm>
            <a:off x="539551" y="1861542"/>
            <a:ext cx="360042" cy="360041"/>
            <a:chOff x="0" y="0"/>
            <a:chExt cx="360040" cy="360040"/>
          </a:xfrm>
        </p:grpSpPr>
        <p:sp>
          <p:nvSpPr>
            <p:cNvPr id="506" name="Circle"/>
            <p:cNvSpPr/>
            <p:nvPr/>
          </p:nvSpPr>
          <p:spPr>
            <a:xfrm>
              <a:off x="-1" y="-1"/>
              <a:ext cx="360042" cy="360042"/>
            </a:xfrm>
            <a:prstGeom prst="ellipse">
              <a:avLst/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507" name="1"/>
            <p:cNvSpPr txBox="1"/>
            <p:nvPr/>
          </p:nvSpPr>
          <p:spPr>
            <a:xfrm>
              <a:off x="98446" y="39620"/>
              <a:ext cx="16314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1</a:t>
              </a:r>
            </a:p>
          </p:txBody>
        </p:sp>
      </p:grpSp>
      <p:sp>
        <p:nvSpPr>
          <p:cNvPr id="509" name="Rectángulo 3"/>
          <p:cNvSpPr txBox="1"/>
          <p:nvPr/>
        </p:nvSpPr>
        <p:spPr>
          <a:xfrm>
            <a:off x="174576" y="4164517"/>
            <a:ext cx="8456160" cy="492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Programaremos aplicaciones en la que se usen conceptos de comunicaciones: Direccionamiento IP, capa de red y transporte. Sabremos cómo ubicarnos en una red e identificarnos</a:t>
            </a:r>
          </a:p>
        </p:txBody>
      </p:sp>
      <p:pic>
        <p:nvPicPr>
          <p:cNvPr id="510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635895" y="1427649"/>
            <a:ext cx="4730865" cy="2715804"/>
          </a:xfrm>
          <a:prstGeom prst="rect">
            <a:avLst/>
          </a:prstGeom>
          <a:ln>
            <a:solidFill>
              <a:schemeClr val="accent1">
                <a:lumOff val="44000"/>
              </a:schemeClr>
            </a:solidFill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Título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Composición del curso</a:t>
            </a:r>
          </a:p>
        </p:txBody>
      </p:sp>
      <p:sp>
        <p:nvSpPr>
          <p:cNvPr id="513" name="CuadroTexto 7"/>
          <p:cNvSpPr txBox="1"/>
          <p:nvPr/>
        </p:nvSpPr>
        <p:spPr>
          <a:xfrm>
            <a:off x="1161335" y="1779661"/>
            <a:ext cx="4157034" cy="898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UNIDAD 1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Servicios en red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pic>
        <p:nvPicPr>
          <p:cNvPr id="514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04" y="70936"/>
            <a:ext cx="1353520" cy="42619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17" name="Elipse 2"/>
          <p:cNvGrpSpPr/>
          <p:nvPr/>
        </p:nvGrpSpPr>
        <p:grpSpPr>
          <a:xfrm>
            <a:off x="539551" y="1861542"/>
            <a:ext cx="360042" cy="360041"/>
            <a:chOff x="0" y="0"/>
            <a:chExt cx="360040" cy="360040"/>
          </a:xfrm>
        </p:grpSpPr>
        <p:sp>
          <p:nvSpPr>
            <p:cNvPr id="515" name="Circle"/>
            <p:cNvSpPr/>
            <p:nvPr/>
          </p:nvSpPr>
          <p:spPr>
            <a:xfrm>
              <a:off x="-1" y="-1"/>
              <a:ext cx="360042" cy="360042"/>
            </a:xfrm>
            <a:prstGeom prst="ellipse">
              <a:avLst/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516" name="1"/>
            <p:cNvSpPr txBox="1"/>
            <p:nvPr/>
          </p:nvSpPr>
          <p:spPr>
            <a:xfrm>
              <a:off x="98446" y="39620"/>
              <a:ext cx="16314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1</a:t>
              </a:r>
            </a:p>
          </p:txBody>
        </p:sp>
      </p:grpSp>
      <p:sp>
        <p:nvSpPr>
          <p:cNvPr id="518" name="Rectángulo 3"/>
          <p:cNvSpPr txBox="1"/>
          <p:nvPr/>
        </p:nvSpPr>
        <p:spPr>
          <a:xfrm>
            <a:off x="1211820" y="4161313"/>
            <a:ext cx="6720360" cy="4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Veremos qué es una comunicación síncrona y una asíncrona. Sabremos cómo transferir datos a través de una red IP</a:t>
            </a:r>
          </a:p>
        </p:txBody>
      </p:sp>
      <p:pic>
        <p:nvPicPr>
          <p:cNvPr id="519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03849" y="1635646"/>
            <a:ext cx="5400600" cy="24630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ítulo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Composición del curso</a:t>
            </a:r>
          </a:p>
        </p:txBody>
      </p:sp>
      <p:sp>
        <p:nvSpPr>
          <p:cNvPr id="522" name="CuadroTexto 7"/>
          <p:cNvSpPr txBox="1"/>
          <p:nvPr/>
        </p:nvSpPr>
        <p:spPr>
          <a:xfrm>
            <a:off x="1161335" y="1779661"/>
            <a:ext cx="4157034" cy="69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UNIDAD 1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Servicios en red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23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04" y="70936"/>
            <a:ext cx="1353520" cy="42619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26" name="Elipse 2"/>
          <p:cNvGrpSpPr/>
          <p:nvPr/>
        </p:nvGrpSpPr>
        <p:grpSpPr>
          <a:xfrm>
            <a:off x="539551" y="1861542"/>
            <a:ext cx="360042" cy="360041"/>
            <a:chOff x="0" y="0"/>
            <a:chExt cx="360040" cy="360040"/>
          </a:xfrm>
        </p:grpSpPr>
        <p:sp>
          <p:nvSpPr>
            <p:cNvPr id="524" name="Circle"/>
            <p:cNvSpPr/>
            <p:nvPr/>
          </p:nvSpPr>
          <p:spPr>
            <a:xfrm>
              <a:off x="-1" y="-1"/>
              <a:ext cx="360042" cy="360042"/>
            </a:xfrm>
            <a:prstGeom prst="ellipse">
              <a:avLst/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525" name="1"/>
            <p:cNvSpPr txBox="1"/>
            <p:nvPr/>
          </p:nvSpPr>
          <p:spPr>
            <a:xfrm>
              <a:off x="98446" y="39620"/>
              <a:ext cx="16314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1</a:t>
              </a:r>
            </a:p>
          </p:txBody>
        </p:sp>
      </p:grpSp>
      <p:sp>
        <p:nvSpPr>
          <p:cNvPr id="527" name="Rectángulo 3"/>
          <p:cNvSpPr txBox="1"/>
          <p:nvPr/>
        </p:nvSpPr>
        <p:spPr>
          <a:xfrm>
            <a:off x="1305352" y="4225638"/>
            <a:ext cx="6076314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Aprenderemos a crear una REST API</a:t>
            </a:r>
          </a:p>
        </p:txBody>
      </p:sp>
      <p:pic>
        <p:nvPicPr>
          <p:cNvPr id="528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rcRect l="0" t="13637" r="0" b="13472"/>
          <a:stretch>
            <a:fillRect/>
          </a:stretch>
        </p:blipFill>
        <p:spPr>
          <a:xfrm>
            <a:off x="3131840" y="1447312"/>
            <a:ext cx="5688632" cy="26265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Título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Composición del curso</a:t>
            </a:r>
          </a:p>
        </p:txBody>
      </p:sp>
      <p:sp>
        <p:nvSpPr>
          <p:cNvPr id="531" name="CuadroTexto 7"/>
          <p:cNvSpPr txBox="1"/>
          <p:nvPr/>
        </p:nvSpPr>
        <p:spPr>
          <a:xfrm>
            <a:off x="1161335" y="1779661"/>
            <a:ext cx="4157034" cy="898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UNIDAD 2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Bases de datos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pic>
        <p:nvPicPr>
          <p:cNvPr id="532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04" y="70936"/>
            <a:ext cx="1353520" cy="42619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35" name="Elipse 2"/>
          <p:cNvGrpSpPr/>
          <p:nvPr/>
        </p:nvGrpSpPr>
        <p:grpSpPr>
          <a:xfrm>
            <a:off x="539551" y="1861542"/>
            <a:ext cx="360042" cy="360041"/>
            <a:chOff x="0" y="0"/>
            <a:chExt cx="360040" cy="360040"/>
          </a:xfrm>
        </p:grpSpPr>
        <p:sp>
          <p:nvSpPr>
            <p:cNvPr id="533" name="Circle"/>
            <p:cNvSpPr/>
            <p:nvPr/>
          </p:nvSpPr>
          <p:spPr>
            <a:xfrm>
              <a:off x="-1" y="-1"/>
              <a:ext cx="360042" cy="360042"/>
            </a:xfrm>
            <a:prstGeom prst="ellipse">
              <a:avLst/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534" name="2"/>
            <p:cNvSpPr txBox="1"/>
            <p:nvPr/>
          </p:nvSpPr>
          <p:spPr>
            <a:xfrm>
              <a:off x="98446" y="39620"/>
              <a:ext cx="16314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2</a:t>
              </a:r>
            </a:p>
          </p:txBody>
        </p:sp>
      </p:grpSp>
      <p:sp>
        <p:nvSpPr>
          <p:cNvPr id="536" name="Rectángulo 3"/>
          <p:cNvSpPr txBox="1"/>
          <p:nvPr/>
        </p:nvSpPr>
        <p:spPr>
          <a:xfrm>
            <a:off x="1305352" y="4155926"/>
            <a:ext cx="6076314" cy="492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Veremos el uso de bases de datos como componente de una red. También esto cómo nos permite almacenar información para soportar un servicio</a:t>
            </a:r>
          </a:p>
        </p:txBody>
      </p:sp>
      <p:sp>
        <p:nvSpPr>
          <p:cNvPr id="537" name="Rectángulo 6"/>
          <p:cNvSpPr txBox="1"/>
          <p:nvPr/>
        </p:nvSpPr>
        <p:spPr>
          <a:xfrm>
            <a:off x="5409808" y="3628021"/>
            <a:ext cx="1809649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ALMACENAMIENTO</a:t>
            </a:r>
          </a:p>
        </p:txBody>
      </p:sp>
      <p:pic>
        <p:nvPicPr>
          <p:cNvPr id="538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212982" y="1431613"/>
            <a:ext cx="2211711" cy="22117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Título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Composición del curso</a:t>
            </a:r>
          </a:p>
        </p:txBody>
      </p:sp>
      <p:sp>
        <p:nvSpPr>
          <p:cNvPr id="541" name="CuadroTexto 7"/>
          <p:cNvSpPr txBox="1"/>
          <p:nvPr/>
        </p:nvSpPr>
        <p:spPr>
          <a:xfrm>
            <a:off x="1161335" y="1779661"/>
            <a:ext cx="4157034" cy="898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UNIDAD 2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Bases de datos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pic>
        <p:nvPicPr>
          <p:cNvPr id="542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04" y="70936"/>
            <a:ext cx="1353520" cy="42619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45" name="Elipse 2"/>
          <p:cNvGrpSpPr/>
          <p:nvPr/>
        </p:nvGrpSpPr>
        <p:grpSpPr>
          <a:xfrm>
            <a:off x="539551" y="1861542"/>
            <a:ext cx="360042" cy="360041"/>
            <a:chOff x="0" y="0"/>
            <a:chExt cx="360040" cy="360040"/>
          </a:xfrm>
        </p:grpSpPr>
        <p:sp>
          <p:nvSpPr>
            <p:cNvPr id="543" name="Circle"/>
            <p:cNvSpPr/>
            <p:nvPr/>
          </p:nvSpPr>
          <p:spPr>
            <a:xfrm>
              <a:off x="-1" y="-1"/>
              <a:ext cx="360042" cy="360042"/>
            </a:xfrm>
            <a:prstGeom prst="ellipse">
              <a:avLst/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544" name="2"/>
            <p:cNvSpPr txBox="1"/>
            <p:nvPr/>
          </p:nvSpPr>
          <p:spPr>
            <a:xfrm>
              <a:off x="98446" y="39620"/>
              <a:ext cx="16314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2</a:t>
              </a:r>
            </a:p>
          </p:txBody>
        </p:sp>
      </p:grpSp>
      <p:sp>
        <p:nvSpPr>
          <p:cNvPr id="546" name="Rectángulo 3"/>
          <p:cNvSpPr txBox="1"/>
          <p:nvPr/>
        </p:nvSpPr>
        <p:spPr>
          <a:xfrm>
            <a:off x="1305352" y="4225638"/>
            <a:ext cx="6076314" cy="4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En una arquitectura convencional, las bases de datos son el corazón de la información de un servicio</a:t>
            </a:r>
          </a:p>
        </p:txBody>
      </p:sp>
      <p:grpSp>
        <p:nvGrpSpPr>
          <p:cNvPr id="549" name="Picture 2"/>
          <p:cNvGrpSpPr/>
          <p:nvPr/>
        </p:nvGrpSpPr>
        <p:grpSpPr>
          <a:xfrm>
            <a:off x="3790960" y="1447036"/>
            <a:ext cx="4813488" cy="2707589"/>
            <a:chOff x="0" y="0"/>
            <a:chExt cx="4813486" cy="2707587"/>
          </a:xfrm>
        </p:grpSpPr>
        <p:sp>
          <p:nvSpPr>
            <p:cNvPr id="547" name="Rectangle"/>
            <p:cNvSpPr/>
            <p:nvPr/>
          </p:nvSpPr>
          <p:spPr>
            <a:xfrm>
              <a:off x="0" y="0"/>
              <a:ext cx="4813487" cy="270758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  <p:pic>
          <p:nvPicPr>
            <p:cNvPr id="548" name="image20.png" descr="image20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4813487" cy="2707588"/>
            </a:xfrm>
            <a:prstGeom prst="rect">
              <a:avLst/>
            </a:prstGeom>
            <a:ln w="9525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  <a:effectLst/>
          </p:spPr>
        </p:pic>
      </p:grpSp>
      <p:sp>
        <p:nvSpPr>
          <p:cNvPr id="550" name="Conector recto de flecha 5"/>
          <p:cNvSpPr/>
          <p:nvPr/>
        </p:nvSpPr>
        <p:spPr>
          <a:xfrm flipH="1">
            <a:off x="5759886" y="3795886"/>
            <a:ext cx="1224137" cy="1"/>
          </a:xfrm>
          <a:prstGeom prst="line">
            <a:avLst/>
          </a:prstGeom>
          <a:ln w="38100">
            <a:solidFill>
              <a:srgbClr val="7030A0"/>
            </a:solidFill>
            <a:tailEnd type="triangle"/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Título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Composición del curso</a:t>
            </a:r>
          </a:p>
        </p:txBody>
      </p:sp>
      <p:sp>
        <p:nvSpPr>
          <p:cNvPr id="553" name="CuadroTexto 7"/>
          <p:cNvSpPr txBox="1"/>
          <p:nvPr/>
        </p:nvSpPr>
        <p:spPr>
          <a:xfrm>
            <a:off x="1161335" y="1779661"/>
            <a:ext cx="4157034" cy="1101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UNIDAD 3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Consumo de servicios REST</a:t>
            </a: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Protocolo de telemetría MQTT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</a:p>
        </p:txBody>
      </p:sp>
      <p:pic>
        <p:nvPicPr>
          <p:cNvPr id="554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04" y="70936"/>
            <a:ext cx="1353520" cy="42619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57" name="Elipse 2"/>
          <p:cNvGrpSpPr/>
          <p:nvPr/>
        </p:nvGrpSpPr>
        <p:grpSpPr>
          <a:xfrm>
            <a:off x="539551" y="1861542"/>
            <a:ext cx="360042" cy="360041"/>
            <a:chOff x="0" y="0"/>
            <a:chExt cx="360040" cy="360040"/>
          </a:xfrm>
        </p:grpSpPr>
        <p:sp>
          <p:nvSpPr>
            <p:cNvPr id="555" name="Circle"/>
            <p:cNvSpPr/>
            <p:nvPr/>
          </p:nvSpPr>
          <p:spPr>
            <a:xfrm>
              <a:off x="-1" y="-1"/>
              <a:ext cx="360042" cy="360042"/>
            </a:xfrm>
            <a:prstGeom prst="ellipse">
              <a:avLst/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556" name="3"/>
            <p:cNvSpPr txBox="1"/>
            <p:nvPr/>
          </p:nvSpPr>
          <p:spPr>
            <a:xfrm>
              <a:off x="98446" y="39620"/>
              <a:ext cx="16314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3</a:t>
              </a:r>
            </a:p>
          </p:txBody>
        </p:sp>
      </p:grpSp>
      <p:sp>
        <p:nvSpPr>
          <p:cNvPr id="558" name="Rectángulo 3"/>
          <p:cNvSpPr txBox="1"/>
          <p:nvPr/>
        </p:nvSpPr>
        <p:spPr>
          <a:xfrm>
            <a:off x="1305352" y="4225638"/>
            <a:ext cx="6076314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Aprenderemos, desde una página web, a cómo consumir un servicio web</a:t>
            </a:r>
          </a:p>
        </p:txBody>
      </p:sp>
      <p:pic>
        <p:nvPicPr>
          <p:cNvPr id="559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16016" y="1447038"/>
            <a:ext cx="3455243" cy="27786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Título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Composición del curso</a:t>
            </a:r>
          </a:p>
        </p:txBody>
      </p:sp>
      <p:sp>
        <p:nvSpPr>
          <p:cNvPr id="562" name="CuadroTexto 7"/>
          <p:cNvSpPr txBox="1"/>
          <p:nvPr/>
        </p:nvSpPr>
        <p:spPr>
          <a:xfrm>
            <a:off x="1161335" y="1779661"/>
            <a:ext cx="4157034" cy="69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UNIDAD 4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Despliegue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63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04" y="70936"/>
            <a:ext cx="1353520" cy="42619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66" name="Elipse 2"/>
          <p:cNvGrpSpPr/>
          <p:nvPr/>
        </p:nvGrpSpPr>
        <p:grpSpPr>
          <a:xfrm>
            <a:off x="539551" y="1861542"/>
            <a:ext cx="360042" cy="360041"/>
            <a:chOff x="0" y="0"/>
            <a:chExt cx="360040" cy="360040"/>
          </a:xfrm>
        </p:grpSpPr>
        <p:sp>
          <p:nvSpPr>
            <p:cNvPr id="564" name="Circle"/>
            <p:cNvSpPr/>
            <p:nvPr/>
          </p:nvSpPr>
          <p:spPr>
            <a:xfrm>
              <a:off x="-1" y="-1"/>
              <a:ext cx="360042" cy="360042"/>
            </a:xfrm>
            <a:prstGeom prst="ellipse">
              <a:avLst/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565" name="4"/>
            <p:cNvSpPr txBox="1"/>
            <p:nvPr/>
          </p:nvSpPr>
          <p:spPr>
            <a:xfrm>
              <a:off x="98446" y="39620"/>
              <a:ext cx="16314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4</a:t>
              </a:r>
            </a:p>
          </p:txBody>
        </p:sp>
      </p:grpSp>
      <p:sp>
        <p:nvSpPr>
          <p:cNvPr id="567" name="Rectángulo 3"/>
          <p:cNvSpPr txBox="1"/>
          <p:nvPr/>
        </p:nvSpPr>
        <p:spPr>
          <a:xfrm>
            <a:off x="1305352" y="4225638"/>
            <a:ext cx="6076314" cy="4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Sabremos cómo desplegar estas aplicaciones de forma local (on-premisse) y remota</a:t>
            </a:r>
          </a:p>
        </p:txBody>
      </p:sp>
      <p:pic>
        <p:nvPicPr>
          <p:cNvPr id="568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41255" y="1569447"/>
            <a:ext cx="4248473" cy="23897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69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96136" y="1014194"/>
            <a:ext cx="1224137" cy="1224137"/>
          </a:xfrm>
          <a:prstGeom prst="rect">
            <a:avLst/>
          </a:prstGeom>
          <a:ln w="12700">
            <a:miter lim="400000"/>
          </a:ln>
        </p:spPr>
      </p:pic>
      <p:sp>
        <p:nvSpPr>
          <p:cNvPr id="570" name="Rectángulo 10"/>
          <p:cNvSpPr txBox="1"/>
          <p:nvPr/>
        </p:nvSpPr>
        <p:spPr>
          <a:xfrm>
            <a:off x="6111521" y="1581886"/>
            <a:ext cx="598127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NUBE</a:t>
            </a:r>
          </a:p>
        </p:txBody>
      </p:sp>
      <p:sp>
        <p:nvSpPr>
          <p:cNvPr id="571" name="Conector recto de flecha 6"/>
          <p:cNvSpPr/>
          <p:nvPr/>
        </p:nvSpPr>
        <p:spPr>
          <a:xfrm>
            <a:off x="5668333" y="2148994"/>
            <a:ext cx="1404157" cy="1"/>
          </a:xfrm>
          <a:prstGeom prst="line">
            <a:avLst/>
          </a:prstGeom>
          <a:ln w="76200">
            <a:solidFill>
              <a:schemeClr val="accent1">
                <a:lumOff val="44000"/>
              </a:schemeClr>
            </a:solidFill>
            <a:headEnd type="triangle"/>
            <a:tailEnd type="triangle"/>
          </a:ln>
        </p:spPr>
        <p:txBody>
          <a:bodyPr lIns="45719" rIns="45719"/>
          <a:lstStyle/>
          <a:p>
            <a:pPr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Título 1"/>
          <p:cNvSpPr txBox="1"/>
          <p:nvPr>
            <p:ph type="title"/>
          </p:nvPr>
        </p:nvSpPr>
        <p:spPr>
          <a:xfrm>
            <a:off x="822960" y="214952"/>
            <a:ext cx="7543801" cy="1088069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Composición del curso</a:t>
            </a:r>
          </a:p>
        </p:txBody>
      </p:sp>
      <p:sp>
        <p:nvSpPr>
          <p:cNvPr id="574" name="CuadroTexto 7"/>
          <p:cNvSpPr txBox="1"/>
          <p:nvPr/>
        </p:nvSpPr>
        <p:spPr>
          <a:xfrm>
            <a:off x="1161335" y="1779661"/>
            <a:ext cx="4157034" cy="69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UNIDAD 5</a:t>
            </a:r>
            <a:endParaRPr>
              <a:solidFill>
                <a:srgbClr val="000000"/>
              </a:solidFill>
            </a:endParaRPr>
          </a:p>
          <a:p>
            <a:pPr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t>Gestión ágil de proyectos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75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504" y="70936"/>
            <a:ext cx="1353520" cy="42619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78" name="Elipse 2"/>
          <p:cNvGrpSpPr/>
          <p:nvPr/>
        </p:nvGrpSpPr>
        <p:grpSpPr>
          <a:xfrm>
            <a:off x="539551" y="1861542"/>
            <a:ext cx="360042" cy="360041"/>
            <a:chOff x="0" y="0"/>
            <a:chExt cx="360040" cy="360040"/>
          </a:xfrm>
        </p:grpSpPr>
        <p:sp>
          <p:nvSpPr>
            <p:cNvPr id="576" name="Circle"/>
            <p:cNvSpPr/>
            <p:nvPr/>
          </p:nvSpPr>
          <p:spPr>
            <a:xfrm>
              <a:off x="-1" y="-1"/>
              <a:ext cx="360042" cy="360042"/>
            </a:xfrm>
            <a:prstGeom prst="ellipse">
              <a:avLst/>
            </a:prstGeom>
            <a:solidFill>
              <a:schemeClr val="accent1">
                <a:lumOff val="44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577" name="5"/>
            <p:cNvSpPr txBox="1"/>
            <p:nvPr/>
          </p:nvSpPr>
          <p:spPr>
            <a:xfrm>
              <a:off x="98446" y="39620"/>
              <a:ext cx="163148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5</a:t>
              </a:r>
            </a:p>
          </p:txBody>
        </p:sp>
      </p:grpSp>
      <p:sp>
        <p:nvSpPr>
          <p:cNvPr id="579" name="Rectángulo 3"/>
          <p:cNvSpPr txBox="1"/>
          <p:nvPr/>
        </p:nvSpPr>
        <p:spPr>
          <a:xfrm>
            <a:off x="1305352" y="4225638"/>
            <a:ext cx="6076314" cy="492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>
                <a:solidFill>
                  <a:schemeClr val="accent1">
                    <a:lumOff val="44000"/>
                  </a:schemeClr>
                </a:solidFill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Sabremos cómo trabajar en un proyecto real. Dividir el trabajo, usar estrategias de branching, hacer seguimiento a proyectos.</a:t>
            </a:r>
          </a:p>
        </p:txBody>
      </p:sp>
      <p:sp>
        <p:nvSpPr>
          <p:cNvPr id="580" name="Rectángulo 10"/>
          <p:cNvSpPr txBox="1"/>
          <p:nvPr/>
        </p:nvSpPr>
        <p:spPr>
          <a:xfrm>
            <a:off x="6111521" y="1581886"/>
            <a:ext cx="598127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Arial"/>
              </a:defRPr>
            </a:lvl1pPr>
          </a:lstStyle>
          <a:p>
            <a:pPr/>
            <a:r>
              <a:t>NUBE</a:t>
            </a:r>
          </a:p>
        </p:txBody>
      </p:sp>
      <p:pic>
        <p:nvPicPr>
          <p:cNvPr id="581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23927" y="1447036"/>
            <a:ext cx="5040562" cy="26497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Retrospección">
  <a:themeElements>
    <a:clrScheme name="Retrospección">
      <a:dk1>
        <a:srgbClr val="073042"/>
      </a:dk1>
      <a:lt1>
        <a:srgbClr val="073042"/>
      </a:lt1>
      <a:dk2>
        <a:srgbClr val="A7A7A7"/>
      </a:dk2>
      <a:lt2>
        <a:srgbClr val="535353"/>
      </a:lt2>
      <a:accent1>
        <a:srgbClr val="8F8F8F"/>
      </a:accent1>
      <a:accent2>
        <a:srgbClr val="3DDB85"/>
      </a:accent2>
      <a:accent3>
        <a:srgbClr val="37A76F"/>
      </a:accent3>
      <a:accent4>
        <a:srgbClr val="44C1A3"/>
      </a:accent4>
      <a:accent5>
        <a:srgbClr val="D8F7E6"/>
      </a:accent5>
      <a:accent6>
        <a:srgbClr val="DBEFF5"/>
      </a:accent6>
      <a:hlink>
        <a:srgbClr val="0000FF"/>
      </a:hlink>
      <a:folHlink>
        <a:srgbClr val="FF00FF"/>
      </a:folHlink>
    </a:clrScheme>
    <a:fontScheme name="Retrospección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2700000">
              <a:srgbClr val="000000">
                <a:alpha val="6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270000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44000"/>
          </a:schemeClr>
        </a:solidFill>
        <a:ln w="15875" cap="flat">
          <a:solidFill>
            <a:schemeClr val="accent1">
              <a:lumOff val="44000"/>
            </a:schemeClr>
          </a:solidFill>
          <a:prstDash val="solid"/>
          <a:round/>
        </a:ln>
        <a:effectLst>
          <a:outerShdw sx="100000" sy="100000" kx="0" ky="0" algn="b" rotWithShape="0" blurRad="38100" dist="25400" dir="2700000">
            <a:srgbClr val="000000">
              <a:alpha val="6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73042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5875" cap="flat">
          <a:solidFill>
            <a:schemeClr val="accent1">
              <a:lumOff val="44000"/>
            </a:schemeClr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73042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Retrospección">
  <a:themeElements>
    <a:clrScheme name="Retrospecció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F8F8F"/>
      </a:accent1>
      <a:accent2>
        <a:srgbClr val="3DDB85"/>
      </a:accent2>
      <a:accent3>
        <a:srgbClr val="37A76F"/>
      </a:accent3>
      <a:accent4>
        <a:srgbClr val="44C1A3"/>
      </a:accent4>
      <a:accent5>
        <a:srgbClr val="D8F7E6"/>
      </a:accent5>
      <a:accent6>
        <a:srgbClr val="DBEFF5"/>
      </a:accent6>
      <a:hlink>
        <a:srgbClr val="0000FF"/>
      </a:hlink>
      <a:folHlink>
        <a:srgbClr val="FF00FF"/>
      </a:folHlink>
    </a:clrScheme>
    <a:fontScheme name="Retrospección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2700000">
              <a:srgbClr val="000000">
                <a:alpha val="6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270000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44000"/>
          </a:schemeClr>
        </a:solidFill>
        <a:ln w="15875" cap="flat">
          <a:solidFill>
            <a:schemeClr val="accent1">
              <a:lumOff val="44000"/>
            </a:schemeClr>
          </a:solidFill>
          <a:prstDash val="solid"/>
          <a:round/>
        </a:ln>
        <a:effectLst>
          <a:outerShdw sx="100000" sy="100000" kx="0" ky="0" algn="b" rotWithShape="0" blurRad="38100" dist="25400" dir="2700000">
            <a:srgbClr val="000000">
              <a:alpha val="60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73042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5875" cap="flat">
          <a:solidFill>
            <a:schemeClr val="accent1">
              <a:lumOff val="44000"/>
            </a:schemeClr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73042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